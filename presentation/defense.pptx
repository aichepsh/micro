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400db0737f468a" /><Relationship Type="http://schemas.openxmlformats.org/officeDocument/2006/relationships/extended-properties" Target="/docProps/app.xml" Id="R9fc1d94062124513" /><Relationship Type="http://schemas.openxmlformats.org/officeDocument/2006/relationships/officeDocument" Target="/ppt/presentation.xml" Id="Rd8986506e1d849c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1b4cf7e4bc4d4a"/>
  </p:sldMasterIdLst>
  <p:notesMasterIdLst>
    <p:notesMasterId xmlns:r="http://schemas.openxmlformats.org/officeDocument/2006/relationships" r:id="R3bdc0aa8c30c4bba"/>
  </p:notesMasterIdLst>
  <p:sldIdLst>
    <p:sldId xmlns:r="http://schemas.openxmlformats.org/officeDocument/2006/relationships" id="256" r:id="Ra18ebf66b6844b33"/>
    <p:sldId xmlns:r="http://schemas.openxmlformats.org/officeDocument/2006/relationships" id="257" r:id="Rb6b538bf84104773"/>
    <p:sldId xmlns:r="http://schemas.openxmlformats.org/officeDocument/2006/relationships" id="258" r:id="R2dadf4839dbf4412"/>
    <p:sldId xmlns:r="http://schemas.openxmlformats.org/officeDocument/2006/relationships" id="259" r:id="R319b35f709004bd7"/>
    <p:sldId xmlns:r="http://schemas.openxmlformats.org/officeDocument/2006/relationships" id="260" r:id="Rd672803c2d9f4e27"/>
    <p:sldId xmlns:r="http://schemas.openxmlformats.org/officeDocument/2006/relationships" id="261" r:id="Rf71aff4b7b234693"/>
    <p:sldId xmlns:r="http://schemas.openxmlformats.org/officeDocument/2006/relationships" id="262" r:id="R522865a37e544932"/>
    <p:sldId xmlns:r="http://schemas.openxmlformats.org/officeDocument/2006/relationships" id="263" r:id="R8bedaf0bb3544f51"/>
    <p:sldId xmlns:r="http://schemas.openxmlformats.org/officeDocument/2006/relationships" id="264" r:id="R3135773e7afb4bcc"/>
    <p:sldId xmlns:r="http://schemas.openxmlformats.org/officeDocument/2006/relationships" id="265" r:id="R26c6a6bbde8a43ef"/>
    <p:sldId xmlns:r="http://schemas.openxmlformats.org/officeDocument/2006/relationships" id="266" r:id="R6b940c46d39c4e14"/>
    <p:sldId xmlns:r="http://schemas.openxmlformats.org/officeDocument/2006/relationships" id="267" r:id="R9cb8692b520b48d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ad8a49589494b85" /><Relationship Type="http://schemas.openxmlformats.org/officeDocument/2006/relationships/slideMaster" Target="/ppt/slideMasters/slideMaster1.xml" Id="R0c1b4cf7e4bc4d4a" /><Relationship Type="http://schemas.openxmlformats.org/officeDocument/2006/relationships/notesMaster" Target="/ppt/notesMasters/notesMaster1.xml" Id="R3bdc0aa8c30c4bba" /><Relationship Type="http://schemas.openxmlformats.org/officeDocument/2006/relationships/presProps" Target="/ppt/presProps.xml" Id="R55e592534b9749d3" /><Relationship Type="http://schemas.openxmlformats.org/officeDocument/2006/relationships/tableStyles" Target="/ppt/tableStyles.xml" Id="R93a857f08edd4b42" /><Relationship Type="http://schemas.openxmlformats.org/officeDocument/2006/relationships/slide" Target="/ppt/slides/slide1.xml" Id="Ra18ebf66b6844b33" /><Relationship Type="http://schemas.openxmlformats.org/officeDocument/2006/relationships/slide" Target="/ppt/slides/slide2.xml" Id="Rb6b538bf84104773" /><Relationship Type="http://schemas.openxmlformats.org/officeDocument/2006/relationships/slide" Target="/ppt/slides/slide3.xml" Id="R2dadf4839dbf4412" /><Relationship Type="http://schemas.openxmlformats.org/officeDocument/2006/relationships/slide" Target="/ppt/slides/slide4.xml" Id="R319b35f709004bd7" /><Relationship Type="http://schemas.openxmlformats.org/officeDocument/2006/relationships/slide" Target="/ppt/slides/slide5.xml" Id="Rd672803c2d9f4e27" /><Relationship Type="http://schemas.openxmlformats.org/officeDocument/2006/relationships/slide" Target="/ppt/slides/slide6.xml" Id="Rf71aff4b7b234693" /><Relationship Type="http://schemas.openxmlformats.org/officeDocument/2006/relationships/slide" Target="/ppt/slides/slide7.xml" Id="R522865a37e544932" /><Relationship Type="http://schemas.openxmlformats.org/officeDocument/2006/relationships/slide" Target="/ppt/slides/slide8.xml" Id="R8bedaf0bb3544f51" /><Relationship Type="http://schemas.openxmlformats.org/officeDocument/2006/relationships/slide" Target="/ppt/slides/slide9.xml" Id="R3135773e7afb4bcc" /><Relationship Type="http://schemas.openxmlformats.org/officeDocument/2006/relationships/slide" Target="/ppt/slides/slide10.xml" Id="R26c6a6bbde8a43ef" /><Relationship Type="http://schemas.openxmlformats.org/officeDocument/2006/relationships/slide" Target="/ppt/slides/slide11.xml" Id="R6b940c46d39c4e14" /><Relationship Type="http://schemas.openxmlformats.org/officeDocument/2006/relationships/slide" Target="/ppt/slides/slide12.xml" Id="R9cb8692b520b48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2dbd991d65496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e46abf81774257" /><Relationship Type="http://schemas.openxmlformats.org/officeDocument/2006/relationships/notesMaster" Target="/ppt/notesMasters/notesMaster1.xml" Id="R5c677a3fb3ac45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03319be385e4fe8" /><Relationship Type="http://schemas.openxmlformats.org/officeDocument/2006/relationships/notesMaster" Target="/ppt/notesMasters/notesMaster1.xml" Id="R72bed8b93aa6426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4300bec60448f2" /><Relationship Type="http://schemas.openxmlformats.org/officeDocument/2006/relationships/notesMaster" Target="/ppt/notesMasters/notesMaster1.xml" Id="R87148cf537b14a2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e4e8333aea4440a" /><Relationship Type="http://schemas.openxmlformats.org/officeDocument/2006/relationships/notesMaster" Target="/ppt/notesMasters/notesMaster1.xml" Id="R2edda97d6d374b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da1e833523846ca" /><Relationship Type="http://schemas.openxmlformats.org/officeDocument/2006/relationships/notesMaster" Target="/ppt/notesMasters/notesMaster1.xml" Id="R7b41a3c6a91741a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5cad49a84174141" /><Relationship Type="http://schemas.openxmlformats.org/officeDocument/2006/relationships/notesMaster" Target="/ppt/notesMasters/notesMaster1.xml" Id="Rf4f8051af5ab457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fe06e2fe6f24db1" /><Relationship Type="http://schemas.openxmlformats.org/officeDocument/2006/relationships/notesMaster" Target="/ppt/notesMasters/notesMaster1.xml" Id="Rf5cca4c7e4ce474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792fc34c0504ee2" /><Relationship Type="http://schemas.openxmlformats.org/officeDocument/2006/relationships/notesMaster" Target="/ppt/notesMasters/notesMaster1.xml" Id="R9348bfe4fc0740b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dc679545c5d42af" /><Relationship Type="http://schemas.openxmlformats.org/officeDocument/2006/relationships/notesMaster" Target="/ppt/notesMasters/notesMaster1.xml" Id="Rf5a17db59f464bb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d65aba7162340fe" /><Relationship Type="http://schemas.openxmlformats.org/officeDocument/2006/relationships/notesMaster" Target="/ppt/notesMasters/notesMaster1.xml" Id="R7c196fbea33245f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32127ff64284492" /><Relationship Type="http://schemas.openxmlformats.org/officeDocument/2006/relationships/notesMaster" Target="/ppt/notesMasters/notesMaster1.xml" Id="R9c56428fc804431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3625814be33457a" /><Relationship Type="http://schemas.openxmlformats.org/officeDocument/2006/relationships/notesMaster" Target="/ppt/notesMasters/notesMaster1.xml" Id="R281f1bff8f9e47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Мой проект помогает купить единый маршрут из поезда и парома. Я спроектировал три сервиса и описал, что происходит при частичном сбое. Главная задача — сохранить места и деньги без повторных операций. Сейчас готова архитектура первой части. Примерное время выступления: 7–9 минут.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Материалы проекта: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Пользователю нужен весь маршрут. Успех означает две брони и одно списание. Если купить весь маршрут не удалось, мы освобождаем места и возвращаем списанную сумму. Перевозчики и платёжный провайдер независимы. Поэтому наша транзакция PostgreSQL не может отменить их действия. Внутренний монолит возможен, но общая база для всей покупки нам недоступна.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Материалы проекта: docs/01-context-map.md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Booking принимает заказ и решает, какой шаг выполнить дальше. Reservations работает с API перевозчиков. Payments списывает и возвращает деньги. Доступа к чужим таблицам нет. Разделение связано с бизнес-ответственностью: маршрут целиком, отдельные места, денежные операции.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Материалы проекта: docs/01-context-map.md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схеме наши приложения, их базы и внешние системы. Пользователь вызывает Booking по HTTP. Наши сервисы передают команды и события через RabbitMQ. Reservations и Payments вызывают внешние API по HTTP. Каждая база имеет своего владельца. Во второй части достаточно одного PostgreSQL с тремя отдельными базами. Серый цвет обозначает внешние системы.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Материалы проекта: docs/02-containers.md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Booking сохраняет заказ и начинает первый шаг. Следующий шаг запускает только после успеха предыдущего. Сначала поезд, затем паром, затем оплата. После подтверждения платежа клиент получает обе брони. Booking хранит текущий шаг в базе и восстанавливает процесс после перезапуска. Такая последовательность с обратными действиями при сбое называется saga.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Материалы проекта: docs/04-main-process.md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Поезд уже забронирован. Перевозчик парома отвечает, что мест нет. Booking начинает отмену и просит Reservations освободить поезд. Для парома подтверждается отсутствие брони. Деньги ещё не списывались. Заказ становится CANCELLED только после подтверждения отмен. Компенсация здесь — освобождение занятого места.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Материалы проекта: docs/04-main-process.md, сценарий 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Оба места забронированы, но платёжный провайдер явно отказал в списании. Это известный отказ, а не сетевой тайм-аут. Booking отменяет обе брони. Возврат не нужен, потому что деньги не списались. Если перевозчик временно не отвечает на отмену, заказ остаётся CANCELLING.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Материалы проекта: docs/04-main-process.md, сценарий 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Провайдер мог списать деньги, а ответ мог потеряться. Payments сохраняет неизвестный результат и проверяет ту же операцию. Если результат найден до начала отмены, покупка завершается. Если прошло пять минут и Booking начал отмену, нужно отменить брони и вернуть подтверждённое списание. После начала отмены поздний успех не запускает покупку заново. Пока возврат не подтверждён, заказ остаётся CANCELLING.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Материалы проекта: docs/04-main-process.md, сценарий 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Outbox — таблица исходящих сообщений. Booking сохраняет заказ и сообщение одной транзакцией, а отправляет потом. Inbox хранит ID уже обработанных сообщений и защищает от повторной доставки. Для внешнего эффекта нужен operationId: провайдер запоминает его и не списывает повторно. Сообщения могут приходить повторно, но бизнес-эффект должен происходить один раз. Состояние операции сохраняется до HTTP-вызова.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Материалы проекта: docs/03-contracts/README.md, docs/05-decisions.md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OpenAPI описывает HTTP-запросы: как создать заказ и прочитать состояние, а также API учебных партнёров. AsyncAPI описывает команды и события в RabbitMQ. Команда просит выполнить действие, событие сообщает результат. Ответ 202 означает только, что заказ приняли и сохранили. В каталоге docs/03-contracts находятся оба типа спецификаций.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Материалы проекта: docs/03-contracts/README.md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Первое решение — три сервиса по бизнес-ответственности и отдельные данные. Второе — последовательная saga с координатором Booking. Третье — RabbitMQ с outbox/inbox для восстановления обмена. Четвёртое — постоянный ID и проверка результата при тайм-ауте. У каждого решения в ADR записаны варианты и последствия. Цена архитектуры — промежуточные состояния, дополнительные сообщения и необходимость компенсаций.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Материалы проекта: docs/05-decisions.md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первой части подготовлены пять артефактов: контексты, C4, контракты, сценарии и ADR. Во второй части нужно реализовать три приложения, RabbitMQ, базы и простые симуляторы партнёров. Деньги условные, пользователь один, маршруты заранее заданы. Симуляторы позволяют полностью отменять брони и запоминают операции. Эти допущения помогают сосредоточиться на распределённом процессе. Я не обещаю совместимость с произвольным реальным банком. Все материалы находятся в репозитории, ссылка на слайде.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Материалы проекта: README.md, docs/01-context-map.md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400d0ab8424e1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d334eb9cc54eb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99a08793be4e9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87321b5b5a417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ea26b0b7d048f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7df29d6aa549c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36F13CF-EE1D-40B2-B2CE-938A7522DA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8260F51-9075-4B6E-A25B-D425B7BE362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5BE72A1-E994-4E5A-869C-3966359AEA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31AB3FE-78E2-4B9E-A14F-7AB532C7B6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B3355CC-CBB3-4581-A1BB-3A4794ECD2B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199F48A-855A-4AA6-A5A6-0E8CBD54BA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3494245-BD00-4304-BE68-C59CCEBF21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84C6137-4A08-4599-8A49-0B788D88627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31E3888-3ADE-418E-AC89-A50CF375DC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C52C10B-62BE-40CF-9C1F-B0F9AF3BFC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721b6fa90c4dc9" /><Relationship Type="http://schemas.openxmlformats.org/officeDocument/2006/relationships/slideLayout" Target="/ppt/slideLayouts/slideLayout1.xml" Id="R7b4831200e7c415a" /><Relationship Type="http://schemas.openxmlformats.org/officeDocument/2006/relationships/slideLayout" Target="/ppt/slideLayouts/slideLayout2.xml" Id="R750bd7919f3049fc" /><Relationship Type="http://schemas.openxmlformats.org/officeDocument/2006/relationships/slideLayout" Target="/ppt/slideLayouts/slideLayout3.xml" Id="Rd083e0b99f7a48a7" /><Relationship Type="http://schemas.openxmlformats.org/officeDocument/2006/relationships/slideLayout" Target="/ppt/slideLayouts/slideLayout4.xml" Id="Rb1fcfc0aeaee4385" /><Relationship Type="http://schemas.openxmlformats.org/officeDocument/2006/relationships/slideLayout" Target="/ppt/slideLayouts/slideLayout5.xml" Id="R3cffd9c9152248ea" /><Relationship Type="http://schemas.openxmlformats.org/officeDocument/2006/relationships/slideLayout" Target="/ppt/slideLayouts/slideLayout6.xml" Id="Rd076bb32d1ad400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b4831200e7c415a"/>
    <p:sldLayoutId xmlns:r="http://schemas.openxmlformats.org/officeDocument/2006/relationships" id="2147483650" r:id="R750bd7919f3049fc"/>
    <p:sldLayoutId xmlns:r="http://schemas.openxmlformats.org/officeDocument/2006/relationships" id="2147483651" r:id="Rd083e0b99f7a48a7"/>
    <p:sldLayoutId xmlns:r="http://schemas.openxmlformats.org/officeDocument/2006/relationships" id="2147483652" r:id="Rb1fcfc0aeaee4385"/>
    <p:sldLayoutId xmlns:r="http://schemas.openxmlformats.org/officeDocument/2006/relationships" id="2147483653" r:id="R3cffd9c9152248ea"/>
    <p:sldLayoutId xmlns:r="http://schemas.openxmlformats.org/officeDocument/2006/relationships" id="2147483654" r:id="Rd076bb32d1ad400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6aa07387b34283" /><Relationship Type="http://schemas.openxmlformats.org/officeDocument/2006/relationships/notesSlide" Target="/ppt/notesSlides/notesSlide1.xml" Id="R398599ca503c40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afb886379241aa" /><Relationship Type="http://schemas.openxmlformats.org/officeDocument/2006/relationships/notesSlide" Target="/ppt/notesSlides/notesSlide2.xml" Id="R3c0be664d1734cf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d780c5b20040a8" /><Relationship Type="http://schemas.openxmlformats.org/officeDocument/2006/relationships/notesSlide" Target="/ppt/notesSlides/notesSlide3.xml" Id="Rdfa80860f3d34ec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033cbdaaf2484d" /><Relationship Type="http://schemas.openxmlformats.org/officeDocument/2006/relationships/notesSlide" Target="/ppt/notesSlides/notesSlide4.xml" Id="R67d2ea9806b6452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4e1aa9772e460c" /><Relationship Type="http://schemas.openxmlformats.org/officeDocument/2006/relationships/notesSlide" Target="/ppt/notesSlides/notesSlide5.xml" Id="R5aba1bd5e9584ec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b61cfabde64700" /><Relationship Type="http://schemas.openxmlformats.org/officeDocument/2006/relationships/notesSlide" Target="/ppt/notesSlides/notesSlide6.xml" Id="R293105fc050b49f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ed56bdb1154c97" /><Relationship Type="http://schemas.openxmlformats.org/officeDocument/2006/relationships/notesSlide" Target="/ppt/notesSlides/notesSlide7.xml" Id="Ra7d7fa78bdfc407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983aef2f22424d" /><Relationship Type="http://schemas.openxmlformats.org/officeDocument/2006/relationships/notesSlide" Target="/ppt/notesSlides/notesSlide8.xml" Id="R6ac0588ad4fc45f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cdb539d48d4210" /><Relationship Type="http://schemas.openxmlformats.org/officeDocument/2006/relationships/notesSlide" Target="/ppt/notesSlides/notesSlide9.xml" Id="Rd13ff7ce3e234e6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350db93fd446e0" /><Relationship Type="http://schemas.openxmlformats.org/officeDocument/2006/relationships/notesSlide" Target="/ppt/notesSlides/notesSlide10.xml" Id="R3aad80fc673b4dc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8e0bb02020471b" /><Relationship Type="http://schemas.openxmlformats.org/officeDocument/2006/relationships/notesSlide" Target="/ppt/notesSlides/notesSlide11.xml" Id="Rfc8c13e418de471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46f255fb19414c" /><Relationship Type="http://schemas.openxmlformats.org/officeDocument/2006/relationships/notesSlide" Target="/ppt/notesSlides/notesSlide12.xml" Id="R34b77acac4054c7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Сквозной билет">
            <a:extLst xmlns:a="http://schemas.openxmlformats.org/drawingml/2006/main">
              <a:ext uri="{FF2B5EF4-FFF2-40B4-BE49-F238E27FC236}">
                <a16:creationId xmlns:a16="http://schemas.microsoft.com/office/drawing/2014/main" id="{8E493799-787F-4EF9-9946-8E8815FE1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480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defPPr>
            <a:lvl1pPr algn="l">
              <a:defRPr sz="480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1pPr>
            <a:lvl2pPr algn="l">
              <a:defRPr sz="480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2pPr>
            <a:lvl3pPr algn="l">
              <a:defRPr sz="480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3pPr>
            <a:lvl4pPr algn="l">
              <a:defRPr sz="480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4pPr>
            <a:lvl5pPr algn="l">
              <a:defRPr sz="480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5pPr>
            <a:lvl6pPr algn="l">
              <a:defRPr sz="480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6pPr>
            <a:lvl7pPr algn="l">
              <a:defRPr sz="480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7pPr>
            <a:lvl8pPr algn="l">
              <a:defRPr sz="480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8pPr>
            <a:lvl9pPr algn="l">
              <a:defRPr sz="480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80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4233B"/>
                </a:solidFill>
                <a:latin typeface="Arial"/>
                <a:ea typeface="Arial"/>
                <a:cs typeface="Arial"/>
              </a:rPr>
              <a:t>Сквозной билет</a:t>
            </a:r>
          </a:p>
        </p:txBody>
      </p:sp>
      <p:sp>
        <p:nvSpPr>
          <p:cNvPr id="2" name="01">
            <a:extLst xmlns:a="http://schemas.openxmlformats.org/drawingml/2006/main">
              <a:ext uri="{FF2B5EF4-FFF2-40B4-BE49-F238E27FC236}">
                <a16:creationId xmlns:a16="http://schemas.microsoft.com/office/drawing/2014/main" id="{2FFACFBA-B725-4ABB-951D-CB46BEEBF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Покупка маршрута из поезда и парома">
            <a:extLst xmlns:a="http://schemas.openxmlformats.org/drawingml/2006/main">
              <a:ext uri="{FF2B5EF4-FFF2-40B4-BE49-F238E27FC236}">
                <a16:creationId xmlns:a16="http://schemas.microsoft.com/office/drawing/2014/main" id="{45F9DBDA-AC82-4ECC-84D4-6C390880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150" b="0">
                <a:solidFill>
                  <a:srgbClr val="166F91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0">
                <a:solidFill>
                  <a:srgbClr val="166F91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0">
                <a:solidFill>
                  <a:srgbClr val="166F91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0">
                <a:solidFill>
                  <a:srgbClr val="166F91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0">
                <a:solidFill>
                  <a:srgbClr val="166F91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0">
                <a:solidFill>
                  <a:srgbClr val="166F91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0">
                <a:solidFill>
                  <a:srgbClr val="166F91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0">
                <a:solidFill>
                  <a:srgbClr val="166F91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0">
                <a:solidFill>
                  <a:srgbClr val="166F91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0">
                <a:solidFill>
                  <a:srgbClr val="166F9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0">
                <a:solidFill>
                  <a:srgbClr val="166F91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166F91"/>
                </a:solidFill>
                <a:latin typeface="Arial"/>
                <a:ea typeface="Arial"/>
                <a:cs typeface="Arial"/>
              </a:rPr>
              <a:t>Покупка маршрута из поезда и парома</a:t>
            </a:r>
          </a:p>
        </p:txBody>
      </p:sp>
      <p:sp>
        <p:nvSpPr>
          <p:cNvPr id="4" name="Архитектура микросервисной системы">
            <a:extLst xmlns:a="http://schemas.openxmlformats.org/drawingml/2006/main">
              <a:ext uri="{FF2B5EF4-FFF2-40B4-BE49-F238E27FC236}">
                <a16:creationId xmlns:a16="http://schemas.microsoft.com/office/drawing/2014/main" id="{B5D5F13E-CD49-4F6E-9E7A-DD9ED4F3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250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33B"/>
                </a:solidFill>
                <a:latin typeface="Arial"/>
                <a:ea typeface="Arial"/>
                <a:cs typeface="Arial"/>
              </a:rPr>
              <a:t>Архитектура микросервисной системы</a:t>
            </a:r>
          </a:p>
        </p:txBody>
      </p:sp>
      <p:sp>
        <p:nvSpPr>
          <p:cNvPr id="5" name="Защита первой части проекта">
            <a:extLst xmlns:a="http://schemas.openxmlformats.org/drawingml/2006/main">
              <a:ext uri="{FF2B5EF4-FFF2-40B4-BE49-F238E27FC236}">
                <a16:creationId xmlns:a16="http://schemas.microsoft.com/office/drawing/2014/main" id="{48B4EFBE-D745-4E5A-A86B-F08DB9F0C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Защита первой части проекта</a:t>
            </a:r>
          </a:p>
        </p:txBody>
      </p:sp>
      <p:sp>
        <p:nvSpPr>
          <p:cNvPr id="6" name="github.com/Aichepsh/micro">
            <a:extLst xmlns:a="http://schemas.openxmlformats.org/drawingml/2006/main">
              <a:ext uri="{FF2B5EF4-FFF2-40B4-BE49-F238E27FC236}">
                <a16:creationId xmlns:a16="http://schemas.microsoft.com/office/drawing/2014/main" id="{701529CE-E3D9-4E53-8193-252A04F34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github.com/Aichepsh/micro</a:t>
            </a:r>
          </a:p>
        </p:txBody>
      </p:sp>
    </p:spTree>
    <p:extLst>
      <p:ext uri="{BB962C8B-B14F-4D97-AF65-F5344CB8AC3E}">
        <p14:creationId xmlns:p14="http://schemas.microsoft.com/office/powerpoint/2010/main" val="11963517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Задача и границы системы">
            <a:extLst xmlns:a="http://schemas.openxmlformats.org/drawingml/2006/main">
              <a:ext uri="{FF2B5EF4-FFF2-40B4-BE49-F238E27FC236}">
                <a16:creationId xmlns:a16="http://schemas.microsoft.com/office/drawing/2014/main" id="{4797CD3D-6998-4CAE-B10F-D1275FFD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33B"/>
                </a:solidFill>
                <a:latin typeface="Arial"/>
                <a:ea typeface="Arial"/>
                <a:cs typeface="Arial"/>
              </a:rPr>
              <a:t>Задача и границы системы</a:t>
            </a:r>
          </a:p>
        </p:txBody>
      </p:sp>
      <p:sp>
        <p:nvSpPr>
          <p:cNvPr id="2" name="02">
            <a:extLst xmlns:a="http://schemas.openxmlformats.org/drawingml/2006/main">
              <a:ext uri="{FF2B5EF4-FFF2-40B4-BE49-F238E27FC236}">
                <a16:creationId xmlns:a16="http://schemas.microsoft.com/office/drawing/2014/main" id="{A53F7820-29DE-427A-B574-368EFF34F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Пользователь покупает весь маршрут">
            <a:extLst xmlns:a="http://schemas.openxmlformats.org/drawingml/2006/main">
              <a:ext uri="{FF2B5EF4-FFF2-40B4-BE49-F238E27FC236}">
                <a16:creationId xmlns:a16="http://schemas.microsoft.com/office/drawing/2014/main" id="{DA2652C5-669A-4690-BE51-CF581DED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6F91"/>
                </a:solidFill>
                <a:latin typeface="Arial"/>
                <a:ea typeface="Arial"/>
                <a:cs typeface="Arial"/>
              </a:rPr>
              <a:t>Пользователь покупает весь маршрут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D6F82641-13CD-43E7-A97B-4A61CA1B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6F9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Успех">
            <a:extLst xmlns:a="http://schemas.openxmlformats.org/drawingml/2006/main">
              <a:ext uri="{FF2B5EF4-FFF2-40B4-BE49-F238E27FC236}">
                <a16:creationId xmlns:a16="http://schemas.microsoft.com/office/drawing/2014/main" id="{1BDBD3A5-D433-49BB-92BB-9A7B559FB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1009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233B"/>
                </a:solidFill>
                <a:latin typeface="Arial"/>
                <a:ea typeface="Arial"/>
                <a:cs typeface="Arial"/>
              </a:rPr>
              <a:t>Успех</a:t>
            </a:r>
          </a:p>
        </p:txBody>
      </p:sp>
      <p:sp>
        <p:nvSpPr>
          <p:cNvPr id="6" name="Две брони и одно списание полной суммы">
            <a:extLst xmlns:a="http://schemas.openxmlformats.org/drawingml/2006/main">
              <a:ext uri="{FF2B5EF4-FFF2-40B4-BE49-F238E27FC236}">
                <a16:creationId xmlns:a16="http://schemas.microsoft.com/office/drawing/2014/main" id="{2F009D5B-BB71-43B8-8E05-773D60309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8610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Две брони и одно списание полной суммы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402ED700-5CA3-42ED-B81F-DBC9610F0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6F9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Неудача">
            <a:extLst xmlns:a="http://schemas.openxmlformats.org/drawingml/2006/main">
              <a:ext uri="{FF2B5EF4-FFF2-40B4-BE49-F238E27FC236}">
                <a16:creationId xmlns:a16="http://schemas.microsoft.com/office/drawing/2014/main" id="{ADC9726A-01AC-4C32-8C14-FB7935F3A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57625"/>
            <a:ext cx="1009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233B"/>
                </a:solidFill>
                <a:latin typeface="Arial"/>
                <a:ea typeface="Arial"/>
                <a:cs typeface="Arial"/>
              </a:rPr>
              <a:t>Неудача</a:t>
            </a:r>
          </a:p>
        </p:txBody>
      </p:sp>
      <p:sp>
        <p:nvSpPr>
          <p:cNvPr id="9" name="Отмена броней и полный возврат, если деньги списал">
            <a:extLst xmlns:a="http://schemas.openxmlformats.org/drawingml/2006/main">
              <a:ext uri="{FF2B5EF4-FFF2-40B4-BE49-F238E27FC236}">
                <a16:creationId xmlns:a16="http://schemas.microsoft.com/office/drawing/2014/main" id="{E7D5EB9F-0F21-40E5-B58C-9412BEF21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71975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Отмена броней и полный возврат, если деньги списались</a:t>
            </a:r>
          </a:p>
        </p:txBody>
      </p:sp>
      <p:sp>
        <p:nvSpPr>
          <p:cNvPr id="10" name="Местами и деньгами управляют независимые внешние с">
            <a:extLst xmlns:a="http://schemas.openxmlformats.org/drawingml/2006/main">
              <a:ext uri="{FF2B5EF4-FFF2-40B4-BE49-F238E27FC236}">
                <a16:creationId xmlns:a16="http://schemas.microsoft.com/office/drawing/2014/main" id="{1CCFCE83-3AD1-40EE-8FA9-BA935246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33B"/>
                </a:solidFill>
                <a:latin typeface="Arial"/>
                <a:ea typeface="Arial"/>
                <a:cs typeface="Arial"/>
              </a:rPr>
              <a:t>Местами и деньгами управляют независимые внешние системы</a:t>
            </a:r>
          </a:p>
        </p:txBody>
      </p:sp>
    </p:spTree>
    <p:extLst>
      <p:ext uri="{BB962C8B-B14F-4D97-AF65-F5344CB8AC3E}">
        <p14:creationId xmlns:p14="http://schemas.microsoft.com/office/powerpoint/2010/main" val="8000971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Три сервиса и их данные">
            <a:extLst xmlns:a="http://schemas.openxmlformats.org/drawingml/2006/main">
              <a:ext uri="{FF2B5EF4-FFF2-40B4-BE49-F238E27FC236}">
                <a16:creationId xmlns:a16="http://schemas.microsoft.com/office/drawing/2014/main" id="{FEA54E06-CB8E-43C6-8378-AAF6E8997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33B"/>
                </a:solidFill>
                <a:latin typeface="Arial"/>
                <a:ea typeface="Arial"/>
                <a:cs typeface="Arial"/>
              </a:rPr>
              <a:t>Три сервиса и их данные</a:t>
            </a:r>
          </a:p>
        </p:txBody>
      </p:sp>
      <p:sp>
        <p:nvSpPr>
          <p:cNvPr id="2" name="03">
            <a:extLst xmlns:a="http://schemas.openxmlformats.org/drawingml/2006/main">
              <a:ext uri="{FF2B5EF4-FFF2-40B4-BE49-F238E27FC236}">
                <a16:creationId xmlns:a16="http://schemas.microsoft.com/office/drawing/2014/main" id="{3E24FA7B-9389-4258-8118-19BA5D43B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Booking">
            <a:extLst xmlns:a="http://schemas.openxmlformats.org/drawingml/2006/main">
              <a:ext uri="{FF2B5EF4-FFF2-40B4-BE49-F238E27FC236}">
                <a16:creationId xmlns:a16="http://schemas.microsoft.com/office/drawing/2014/main" id="{944CBA89-4949-4EC5-AEFB-4AFC21E0B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2857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7"/>
          </a:solidFill>
          <a:ln xmlns:a="http://schemas.openxmlformats.org/drawingml/2006/main" w="13335">
            <a:solidFill>
              <a:srgbClr val="B9C9D7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defPPr>
            <a:lvl1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33B"/>
                </a:solidFill>
                <a:latin typeface="Arial"/>
                <a:ea typeface="Arial"/>
                <a:cs typeface="Arial"/>
              </a:rPr>
              <a:t>Booking</a:t>
            </a:r>
          </a:p>
        </p:txBody>
      </p:sp>
      <p:sp>
        <p:nvSpPr>
          <p:cNvPr id="4" name="Reservations">
            <a:extLst xmlns:a="http://schemas.openxmlformats.org/drawingml/2006/main">
              <a:ext uri="{FF2B5EF4-FFF2-40B4-BE49-F238E27FC236}">
                <a16:creationId xmlns:a16="http://schemas.microsoft.com/office/drawing/2014/main" id="{19C2516E-8293-40B0-85EB-278B113DE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62125"/>
            <a:ext cx="2857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7"/>
          </a:solidFill>
          <a:ln xmlns:a="http://schemas.openxmlformats.org/drawingml/2006/main" w="13335">
            <a:solidFill>
              <a:srgbClr val="B9C9D7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defPPr>
            <a:lvl1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33B"/>
                </a:solidFill>
                <a:latin typeface="Arial"/>
                <a:ea typeface="Arial"/>
                <a:cs typeface="Arial"/>
              </a:rPr>
              <a:t>Reservations</a:t>
            </a:r>
          </a:p>
        </p:txBody>
      </p:sp>
      <p:sp>
        <p:nvSpPr>
          <p:cNvPr id="5" name="Payments">
            <a:extLst xmlns:a="http://schemas.openxmlformats.org/drawingml/2006/main">
              <a:ext uri="{FF2B5EF4-FFF2-40B4-BE49-F238E27FC236}">
                <a16:creationId xmlns:a16="http://schemas.microsoft.com/office/drawing/2014/main" id="{F9DEDC8E-FF9A-4E2C-B09F-DD8852AC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62125"/>
            <a:ext cx="2857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7"/>
          </a:solidFill>
          <a:ln xmlns:a="http://schemas.openxmlformats.org/drawingml/2006/main" w="13335">
            <a:solidFill>
              <a:srgbClr val="B9C9D7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defPPr>
            <a:lvl1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33B"/>
                </a:solidFill>
                <a:latin typeface="Arial"/>
                <a:ea typeface="Arial"/>
                <a:cs typeface="Arial"/>
              </a:rPr>
              <a:t>Payments</a:t>
            </a:r>
          </a:p>
        </p:txBody>
      </p:sp>
      <p:sp>
        <p:nvSpPr>
          <p:cNvPr id="6" name="Заказ и текущий шаг">
            <a:extLst xmlns:a="http://schemas.openxmlformats.org/drawingml/2006/main">
              <a:ext uri="{FF2B5EF4-FFF2-40B4-BE49-F238E27FC236}">
                <a16:creationId xmlns:a16="http://schemas.microsoft.com/office/drawing/2014/main" id="{A832E712-BF8C-4BF5-8FBA-AE0BE19C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233B"/>
                </a:solidFill>
                <a:latin typeface="Arial"/>
                <a:ea typeface="Arial"/>
                <a:cs typeface="Arial"/>
              </a:rPr>
              <a:t>Заказ и текущий шаг</a:t>
            </a:r>
          </a:p>
        </p:txBody>
      </p:sp>
      <p:sp>
        <p:nvSpPr>
          <p:cNvPr id="7" name="Маршрут, цена,&#10;результат покупки">
            <a:extLst xmlns:a="http://schemas.openxmlformats.org/drawingml/2006/main">
              <a:ext uri="{FF2B5EF4-FFF2-40B4-BE49-F238E27FC236}">
                <a16:creationId xmlns:a16="http://schemas.microsoft.com/office/drawing/2014/main" id="{E0129E4B-DBC3-4B51-BC92-AB041657A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48125"/>
            <a:ext cx="285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Маршрут, цена,</a:t>
            </a:r>
          </a:p>
          <a:p xmlns:a="http://schemas.openxmlformats.org/drawingml/2006/main">
            <a: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результат покупки</a:t>
            </a:r>
          </a:p>
        </p:txBody>
      </p:sp>
      <p:sp>
        <p:nvSpPr>
          <p:cNvPr id="8" name="Работа с местами">
            <a:extLst xmlns:a="http://schemas.openxmlformats.org/drawingml/2006/main">
              <a:ext uri="{FF2B5EF4-FFF2-40B4-BE49-F238E27FC236}">
                <a16:creationId xmlns:a16="http://schemas.microsoft.com/office/drawing/2014/main" id="{7EF23C81-B824-4DF9-B756-063901F46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00375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233B"/>
                </a:solidFill>
                <a:latin typeface="Arial"/>
                <a:ea typeface="Arial"/>
                <a:cs typeface="Arial"/>
              </a:rPr>
              <a:t>Работа с местами</a:t>
            </a:r>
          </a:p>
        </p:txBody>
      </p:sp>
      <p:sp>
        <p:nvSpPr>
          <p:cNvPr id="9" name="Брони сегментов,&#10;ответы перевозчиков">
            <a:extLst xmlns:a="http://schemas.openxmlformats.org/drawingml/2006/main">
              <a:ext uri="{FF2B5EF4-FFF2-40B4-BE49-F238E27FC236}">
                <a16:creationId xmlns:a16="http://schemas.microsoft.com/office/drawing/2014/main" id="{80DE39B4-8C1E-41F3-AEBE-C72C1056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48125"/>
            <a:ext cx="285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Брони сегментов,</a:t>
            </a:r>
          </a:p>
          <a:p xmlns:a="http://schemas.openxmlformats.org/drawingml/2006/main">
            <a: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ответы перевозчиков</a:t>
            </a:r>
          </a:p>
        </p:txBody>
      </p:sp>
      <p:sp>
        <p:nvSpPr>
          <p:cNvPr id="10" name="Работа с деньгами">
            <a:extLst xmlns:a="http://schemas.openxmlformats.org/drawingml/2006/main">
              <a:ext uri="{FF2B5EF4-FFF2-40B4-BE49-F238E27FC236}">
                <a16:creationId xmlns:a16="http://schemas.microsoft.com/office/drawing/2014/main" id="{807341A1-9A57-49D8-9B85-3587CE69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00375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233B"/>
                </a:solidFill>
                <a:latin typeface="Arial"/>
                <a:ea typeface="Arial"/>
                <a:cs typeface="Arial"/>
              </a:rPr>
              <a:t>Работа с деньгами</a:t>
            </a:r>
          </a:p>
        </p:txBody>
      </p:sp>
      <p:sp>
        <p:nvSpPr>
          <p:cNvPr id="11" name="Платежи, возвраты,&#10;результаты операций">
            <a:extLst xmlns:a="http://schemas.openxmlformats.org/drawingml/2006/main">
              <a:ext uri="{FF2B5EF4-FFF2-40B4-BE49-F238E27FC236}">
                <a16:creationId xmlns:a16="http://schemas.microsoft.com/office/drawing/2014/main" id="{C589E0FB-1D63-4629-94D0-6D3A4E3C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48125"/>
            <a:ext cx="285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Платежи, возвраты,</a:t>
            </a:r>
          </a:p>
          <a:p xmlns:a="http://schemas.openxmlformats.org/drawingml/2006/main">
            <a: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результаты операций</a:t>
            </a:r>
          </a:p>
        </p:txBody>
      </p:sp>
      <p:sp>
        <p:nvSpPr>
          <p:cNvPr id="12" name="Booking управляет обоими участниками через сообщен">
            <a:extLst xmlns:a="http://schemas.openxmlformats.org/drawingml/2006/main">
              <a:ext uri="{FF2B5EF4-FFF2-40B4-BE49-F238E27FC236}">
                <a16:creationId xmlns:a16="http://schemas.microsoft.com/office/drawing/2014/main" id="{13C5253B-72C4-413C-BD3E-140D1AB8D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6737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0">
                <a:solidFill>
                  <a:srgbClr val="166F91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66F91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66F91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66F91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66F91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66F91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66F91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66F91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66F91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66F9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66F9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6F91"/>
                </a:solidFill>
                <a:latin typeface="Arial"/>
                <a:ea typeface="Arial"/>
                <a:cs typeface="Arial"/>
              </a:rPr>
              <a:t>Booking управляет обоими участниками через сообщения</a:t>
            </a:r>
          </a:p>
        </p:txBody>
      </p:sp>
    </p:spTree>
    <p:extLst>
      <p:ext uri="{BB962C8B-B14F-4D97-AF65-F5344CB8AC3E}">
        <p14:creationId xmlns:p14="http://schemas.microsoft.com/office/powerpoint/2010/main" val="2067765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C4 Container">
            <a:extLst xmlns:a="http://schemas.openxmlformats.org/drawingml/2006/main">
              <a:ext uri="{FF2B5EF4-FFF2-40B4-BE49-F238E27FC236}">
                <a16:creationId xmlns:a16="http://schemas.microsoft.com/office/drawing/2014/main" id="{4CE3B53D-B5EB-4109-90AE-54A87BBA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33B"/>
                </a:solidFill>
                <a:latin typeface="Arial"/>
                <a:ea typeface="Arial"/>
                <a:cs typeface="Arial"/>
              </a:rPr>
              <a:t>C4 Container</a:t>
            </a:r>
          </a:p>
        </p:txBody>
      </p:sp>
      <p:sp>
        <p:nvSpPr>
          <p:cNvPr id="2" name="04">
            <a:extLst xmlns:a="http://schemas.openxmlformats.org/drawingml/2006/main">
              <a:ext uri="{FF2B5EF4-FFF2-40B4-BE49-F238E27FC236}">
                <a16:creationId xmlns:a16="http://schemas.microsoft.com/office/drawing/2014/main" id="{C03E178A-5143-4D8C-A3AD-89233DD2C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680B75-25DF-4B93-BFF0-6BB2820D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571625"/>
            <a:ext cx="747712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9"/>
          </a:solidFill>
          <a:ln xmlns:a="http://schemas.openxmlformats.org/drawingml/2006/main" w="9525">
            <a:solidFill>
              <a:srgbClr val="B9C9D7"/>
            </a:solidFill>
          </a:ln>
        </p:spPr>
      </p:sp>
      <p:sp>
        <p:nvSpPr>
          <p:cNvPr id="4" name="Платформа «Сквозной билет»">
            <a:extLst xmlns:a="http://schemas.openxmlformats.org/drawingml/2006/main">
              <a:ext uri="{FF2B5EF4-FFF2-40B4-BE49-F238E27FC236}">
                <a16:creationId xmlns:a16="http://schemas.microsoft.com/office/drawing/2014/main" id="{64596CD6-B876-4621-AF9A-82FA9FCD3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666875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36579"/>
                </a:solidFill>
                <a:latin typeface="Arial"/>
                <a:ea typeface="Arial"/>
                <a:cs typeface="Arial"/>
              </a:rPr>
              <a:t>Платформа «Сквозной билет»</a:t>
            </a:r>
          </a:p>
        </p:txBody>
      </p:sp>
      <p:sp>
        <p:nvSpPr>
          <p:cNvPr id="5" name="Покупатель">
            <a:extLst xmlns:a="http://schemas.openxmlformats.org/drawingml/2006/main">
              <a:ext uri="{FF2B5EF4-FFF2-40B4-BE49-F238E27FC236}">
                <a16:creationId xmlns:a16="http://schemas.microsoft.com/office/drawing/2014/main" id="{27C90F36-C0E1-4534-8A80-C43F33374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095625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9C9D7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725">
                <a:solidFill>
                  <a:srgbClr val="14233B"/>
                </a:solidFill>
                <a:latin typeface="Arial"/>
                <a:ea typeface="Arial"/>
                <a:cs typeface="Arial"/>
              </a:defRPr>
            </a:defPPr>
            <a:lvl1pPr algn="ctr">
              <a:defRPr sz="172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4233B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33B"/>
                </a:solidFill>
                <a:latin typeface="Arial"/>
                <a:ea typeface="Arial"/>
                <a:cs typeface="Arial"/>
              </a:rPr>
              <a:t>Покупатель</a:t>
            </a:r>
          </a:p>
        </p:txBody>
      </p:sp>
      <p:sp>
        <p:nvSpPr>
          <p:cNvPr id="6" name="Booking">
            <a:extLst xmlns:a="http://schemas.openxmlformats.org/drawingml/2006/main">
              <a:ext uri="{FF2B5EF4-FFF2-40B4-BE49-F238E27FC236}">
                <a16:creationId xmlns:a16="http://schemas.microsoft.com/office/drawing/2014/main" id="{DDCBA80E-ECD8-40A2-8257-0EB08617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48000"/>
            <a:ext cx="1714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7"/>
          </a:solidFill>
          <a:ln xmlns:a="http://schemas.openxmlformats.org/drawingml/2006/main" w="13335">
            <a:solidFill>
              <a:srgbClr val="B9C9D7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defPPr>
            <a:lvl1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33B"/>
                </a:solidFill>
                <a:latin typeface="Arial"/>
                <a:ea typeface="Arial"/>
                <a:cs typeface="Arial"/>
              </a:rPr>
              <a:t>Booking</a:t>
            </a:r>
          </a:p>
        </p:txBody>
      </p:sp>
      <p:sp>
        <p:nvSpPr>
          <p:cNvPr id="7" name="RabbitMQ">
            <a:extLst xmlns:a="http://schemas.openxmlformats.org/drawingml/2006/main">
              <a:ext uri="{FF2B5EF4-FFF2-40B4-BE49-F238E27FC236}">
                <a16:creationId xmlns:a16="http://schemas.microsoft.com/office/drawing/2014/main" id="{5944CF9B-4D7B-4AB9-B6A9-73CE714B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48000"/>
            <a:ext cx="1571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7"/>
          </a:solidFill>
          <a:ln xmlns:a="http://schemas.openxmlformats.org/drawingml/2006/main" w="13335">
            <a:solidFill>
              <a:srgbClr val="B9C9D7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defPPr>
            <a:lvl1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33B"/>
                </a:solidFill>
                <a:latin typeface="Arial"/>
                <a:ea typeface="Arial"/>
                <a:cs typeface="Arial"/>
              </a:rPr>
              <a:t>RabbitMQ</a:t>
            </a:r>
          </a:p>
        </p:txBody>
      </p:sp>
      <p:sp>
        <p:nvSpPr>
          <p:cNvPr id="8" name="Reservations">
            <a:extLst xmlns:a="http://schemas.openxmlformats.org/drawingml/2006/main">
              <a:ext uri="{FF2B5EF4-FFF2-40B4-BE49-F238E27FC236}">
                <a16:creationId xmlns:a16="http://schemas.microsoft.com/office/drawing/2014/main" id="{39F3C050-9F6B-4B5A-AD2F-5E74632AD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38375"/>
            <a:ext cx="2476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7"/>
          </a:solidFill>
          <a:ln xmlns:a="http://schemas.openxmlformats.org/drawingml/2006/main" w="13335">
            <a:solidFill>
              <a:srgbClr val="B9C9D7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defPPr>
            <a:lvl1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33B"/>
                </a:solidFill>
                <a:latin typeface="Arial"/>
                <a:ea typeface="Arial"/>
                <a:cs typeface="Arial"/>
              </a:rPr>
              <a:t>Reservations</a:t>
            </a:r>
          </a:p>
        </p:txBody>
      </p:sp>
      <p:sp>
        <p:nvSpPr>
          <p:cNvPr id="9" name="Payments">
            <a:extLst xmlns:a="http://schemas.openxmlformats.org/drawingml/2006/main">
              <a:ext uri="{FF2B5EF4-FFF2-40B4-BE49-F238E27FC236}">
                <a16:creationId xmlns:a16="http://schemas.microsoft.com/office/drawing/2014/main" id="{3CF86186-B840-4A2D-991E-1493FFA4F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91000"/>
            <a:ext cx="2476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7"/>
          </a:solidFill>
          <a:ln xmlns:a="http://schemas.openxmlformats.org/drawingml/2006/main" w="13335">
            <a:solidFill>
              <a:srgbClr val="B9C9D7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defPPr>
            <a:lvl1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33B"/>
                </a:solidFill>
                <a:latin typeface="Arial"/>
                <a:ea typeface="Arial"/>
                <a:cs typeface="Arial"/>
              </a:rPr>
              <a:t>Payments</a:t>
            </a:r>
          </a:p>
        </p:txBody>
      </p:sp>
      <p:sp>
        <p:nvSpPr>
          <p:cNvPr id="10" name="Booking DB PostgreSQL">
            <a:extLst xmlns:a="http://schemas.openxmlformats.org/drawingml/2006/main">
              <a:ext uri="{FF2B5EF4-FFF2-40B4-BE49-F238E27FC236}">
                <a16:creationId xmlns:a16="http://schemas.microsoft.com/office/drawing/2014/main" id="{FF9CDDD3-48C1-4707-AA66-C9F1C22D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619625"/>
            <a:ext cx="1714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9C9D7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725">
                <a:solidFill>
                  <a:srgbClr val="14233B"/>
                </a:solidFill>
                <a:latin typeface="Arial"/>
                <a:ea typeface="Arial"/>
                <a:cs typeface="Arial"/>
              </a:defRPr>
            </a:defPPr>
            <a:lvl1pPr algn="ctr">
              <a:defRPr sz="172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4233B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33B"/>
                </a:solidFill>
                <a:latin typeface="Arial"/>
                <a:ea typeface="Arial"/>
                <a:cs typeface="Arial"/>
              </a:rPr>
              <a:t>Booking DB</a:t>
            </a:r>
          </a:p>
          <a:p xmlns:a="http://schemas.openxmlformats.org/drawingml/2006/main">
            <a:pPr algn="ctr">
              <a:defRPr sz="1725">
                <a:solidFill>
                  <a:srgbClr val="14233B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33B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11" name="Reservations DB PostgreSQL">
            <a:extLst xmlns:a="http://schemas.openxmlformats.org/drawingml/2006/main">
              <a:ext uri="{FF2B5EF4-FFF2-40B4-BE49-F238E27FC236}">
                <a16:creationId xmlns:a16="http://schemas.microsoft.com/office/drawing/2014/main" id="{3F1660CE-49FC-447F-890C-7EF2A8BD1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2476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9C9D7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725">
                <a:solidFill>
                  <a:srgbClr val="14233B"/>
                </a:solidFill>
                <a:latin typeface="Arial"/>
                <a:ea typeface="Arial"/>
                <a:cs typeface="Arial"/>
              </a:defRPr>
            </a:defPPr>
            <a:lvl1pPr algn="ctr">
              <a:defRPr sz="172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4233B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33B"/>
                </a:solidFill>
                <a:latin typeface="Arial"/>
                <a:ea typeface="Arial"/>
                <a:cs typeface="Arial"/>
              </a:rPr>
              <a:t>Reservations DB</a:t>
            </a:r>
          </a:p>
          <a:p xmlns:a="http://schemas.openxmlformats.org/drawingml/2006/main">
            <a:pPr algn="ctr">
              <a:defRPr sz="1725">
                <a:solidFill>
                  <a:srgbClr val="14233B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33B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12" name="Payments DB PostgreSQL">
            <a:extLst xmlns:a="http://schemas.openxmlformats.org/drawingml/2006/main">
              <a:ext uri="{FF2B5EF4-FFF2-40B4-BE49-F238E27FC236}">
                <a16:creationId xmlns:a16="http://schemas.microsoft.com/office/drawing/2014/main" id="{F5803963-976C-4B86-9A93-08240708E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95875"/>
            <a:ext cx="2476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9C9D7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725">
                <a:solidFill>
                  <a:srgbClr val="14233B"/>
                </a:solidFill>
                <a:latin typeface="Arial"/>
                <a:ea typeface="Arial"/>
                <a:cs typeface="Arial"/>
              </a:defRPr>
            </a:defPPr>
            <a:lvl1pPr algn="ctr">
              <a:defRPr sz="172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4233B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33B"/>
                </a:solidFill>
                <a:latin typeface="Arial"/>
                <a:ea typeface="Arial"/>
                <a:cs typeface="Arial"/>
              </a:rPr>
              <a:t>Payments DB</a:t>
            </a:r>
          </a:p>
          <a:p xmlns:a="http://schemas.openxmlformats.org/drawingml/2006/main">
            <a:pPr algn="ctr">
              <a:defRPr sz="1725">
                <a:solidFill>
                  <a:srgbClr val="14233B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33B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13" name="Поезд">
            <a:extLst xmlns:a="http://schemas.openxmlformats.org/drawingml/2006/main">
              <a:ext uri="{FF2B5EF4-FFF2-40B4-BE49-F238E27FC236}">
                <a16:creationId xmlns:a16="http://schemas.microsoft.com/office/drawing/2014/main" id="{F8ED0028-7659-4CF4-B895-51F61898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047875"/>
            <a:ext cx="19526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F0"/>
          </a:solidFill>
          <a:ln xmlns:a="http://schemas.openxmlformats.org/drawingml/2006/main" w="13335">
            <a:solidFill>
              <a:srgbClr val="B9C9D7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defPPr>
            <a:lvl1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33B"/>
                </a:solidFill>
                <a:latin typeface="Arial"/>
                <a:ea typeface="Arial"/>
                <a:cs typeface="Arial"/>
              </a:rPr>
              <a:t>Поезд</a:t>
            </a:r>
          </a:p>
        </p:txBody>
      </p:sp>
      <p:sp>
        <p:nvSpPr>
          <p:cNvPr id="14" name="Паром">
            <a:extLst xmlns:a="http://schemas.openxmlformats.org/drawingml/2006/main">
              <a:ext uri="{FF2B5EF4-FFF2-40B4-BE49-F238E27FC236}">
                <a16:creationId xmlns:a16="http://schemas.microsoft.com/office/drawing/2014/main" id="{1BDB1AAC-EF1B-4D8E-9AC2-B715E349A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952750"/>
            <a:ext cx="19526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F0"/>
          </a:solidFill>
          <a:ln xmlns:a="http://schemas.openxmlformats.org/drawingml/2006/main" w="13335">
            <a:solidFill>
              <a:srgbClr val="B9C9D7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defPPr>
            <a:lvl1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33B"/>
                </a:solidFill>
                <a:latin typeface="Arial"/>
                <a:ea typeface="Arial"/>
                <a:cs typeface="Arial"/>
              </a:rPr>
              <a:t>Паром</a:t>
            </a:r>
          </a:p>
        </p:txBody>
      </p:sp>
      <p:sp>
        <p:nvSpPr>
          <p:cNvPr id="15" name="Провайдер платежей">
            <a:extLst xmlns:a="http://schemas.openxmlformats.org/drawingml/2006/main">
              <a:ext uri="{FF2B5EF4-FFF2-40B4-BE49-F238E27FC236}">
                <a16:creationId xmlns:a16="http://schemas.microsoft.com/office/drawing/2014/main" id="{2CAE995C-D30C-4122-896E-AE886CD1A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191000"/>
            <a:ext cx="1952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F0"/>
          </a:solidFill>
          <a:ln xmlns:a="http://schemas.openxmlformats.org/drawingml/2006/main" w="13335">
            <a:solidFill>
              <a:srgbClr val="B9C9D7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defPPr>
            <a:lvl1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33B"/>
                </a:solidFill>
                <a:latin typeface="Arial"/>
                <a:ea typeface="Arial"/>
                <a:cs typeface="Arial"/>
              </a:rPr>
              <a:t>Провайдер</a:t>
            </a:r>
          </a:p>
          <a:p xmlns:a="http://schemas.openxmlformats.org/drawingml/2006/main">
            <a:pPr algn="ctr">
              <a:defRPr sz="1875">
                <a:solidFill>
                  <a:srgbClr val="14233B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33B"/>
                </a:solidFill>
                <a:latin typeface="Arial"/>
                <a:ea typeface="Arial"/>
                <a:cs typeface="Arial"/>
              </a:rPr>
              <a:t>платежей</a:t>
            </a:r>
          </a:p>
        </p:txBody>
      </p: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8970B1-F46C-42BD-8B77-4B50E3743F9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733550" y="3429000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66F91"/>
            </a:solidFill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9B509A-364D-4E7C-88D3-FF526AD1491B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000500" y="342900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66F91"/>
            </a:solidFill>
            <a:headEnd type="arrow" w="med" len="med"/>
            <a:tailEnd type="arrow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06A1E4-D8C0-4885-ACF1-37FB09ED88AC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6000750" y="2547938"/>
            <a:ext cx="571500" cy="8810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166F91"/>
            </a:solidFill>
            <a:headEnd type="arrow" w="med" len="med"/>
            <a:tailEnd type="arrow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08449D-1E59-4B63-840F-18D282808295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000750" y="3429000"/>
            <a:ext cx="571500" cy="10715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166F91"/>
            </a:solidFill>
            <a:headEnd type="arrow" w="med" len="med"/>
            <a:tailEnd type="arrow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23BEC0-F43F-4DB8-8C3C-18054860FFB5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3143250" y="3810000"/>
            <a:ext cx="0" cy="8096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66F91"/>
            </a:solidFill>
            <a:tailEnd type="arrow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0F1FB7-1B82-48A3-8CF4-EBFCBD3F6DFC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7810500" y="2857500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66F91"/>
            </a:solidFill>
            <a:tailEnd type="arrow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2A02D6-8C0D-4E03-A7AA-15D1F082D4D7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7810500" y="4810125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66F91"/>
            </a:solidFill>
            <a:tailEnd type="arrow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9CE2AA-000E-408D-8C6E-15322AD576CE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9048750" y="2357438"/>
            <a:ext cx="809625" cy="190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166F91"/>
            </a:solidFill>
            <a:tailEnd type="arrow" w="med" len="med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6C0B14-7E3E-4A0E-BCEA-697BC5211112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9048750" y="2547938"/>
            <a:ext cx="809625" cy="714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166F91"/>
            </a:solidFill>
            <a:tailEnd type="arrow" w="med" len="me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5AF63C-9764-406C-852A-227F0BCECEA5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9048750" y="4500563"/>
            <a:ext cx="809625" cy="71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166F91"/>
            </a:solidFill>
            <a:tailEnd type="arrow" w="med" len="med"/>
          </a:ln>
        </p:spPr>
      </p:cxnSp>
      <p:sp>
        <p:nvSpPr>
          <p:cNvPr id="26" name="HTTP с клиентом и партнёрами. AMQP через RabbitMQ.">
            <a:extLst xmlns:a="http://schemas.openxmlformats.org/drawingml/2006/main">
              <a:ext uri="{FF2B5EF4-FFF2-40B4-BE49-F238E27FC236}">
                <a16:creationId xmlns:a16="http://schemas.microsoft.com/office/drawing/2014/main" id="{238C8439-1A46-45D0-9992-C105226E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HTTP с клиентом и партнёрами. AMQP через RabbitMQ. SQL к своим БД.</a:t>
            </a:r>
          </a:p>
        </p:txBody>
      </p:sp>
    </p:spTree>
    <p:extLst>
      <p:ext uri="{BB962C8B-B14F-4D97-AF65-F5344CB8AC3E}">
        <p14:creationId xmlns:p14="http://schemas.microsoft.com/office/powerpoint/2010/main" val="16575220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Основной процесс">
            <a:extLst xmlns:a="http://schemas.openxmlformats.org/drawingml/2006/main">
              <a:ext uri="{FF2B5EF4-FFF2-40B4-BE49-F238E27FC236}">
                <a16:creationId xmlns:a16="http://schemas.microsoft.com/office/drawing/2014/main" id="{FA907A74-0713-41A9-9991-96495192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33B"/>
                </a:solidFill>
                <a:latin typeface="Arial"/>
                <a:ea typeface="Arial"/>
                <a:cs typeface="Arial"/>
              </a:rPr>
              <a:t>Основной процесс</a:t>
            </a:r>
          </a:p>
        </p:txBody>
      </p:sp>
      <p:sp>
        <p:nvSpPr>
          <p:cNvPr id="2" name="05">
            <a:extLst xmlns:a="http://schemas.openxmlformats.org/drawingml/2006/main">
              <a:ext uri="{FF2B5EF4-FFF2-40B4-BE49-F238E27FC236}">
                <a16:creationId xmlns:a16="http://schemas.microsoft.com/office/drawing/2014/main" id="{D6ACBB03-32A0-470F-B2E5-C51EBC9F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Бронь поезда">
            <a:extLst xmlns:a="http://schemas.openxmlformats.org/drawingml/2006/main">
              <a:ext uri="{FF2B5EF4-FFF2-40B4-BE49-F238E27FC236}">
                <a16:creationId xmlns:a16="http://schemas.microsoft.com/office/drawing/2014/main" id="{A96EF22E-572F-4A47-AF17-BC26E6F8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7"/>
          </a:solidFill>
          <a:ln xmlns:a="http://schemas.openxmlformats.org/drawingml/2006/main" w="13335">
            <a:solidFill>
              <a:srgbClr val="B9C9D7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2175">
                <a:solidFill>
                  <a:srgbClr val="14233B"/>
                </a:solidFill>
                <a:latin typeface="Arial"/>
                <a:ea typeface="Arial"/>
                <a:cs typeface="Arial"/>
              </a:defRPr>
            </a:defPPr>
            <a:lvl1pPr algn="ctr">
              <a:defRPr sz="21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75">
                <a:solidFill>
                  <a:srgbClr val="14233B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14233B"/>
                </a:solidFill>
                <a:latin typeface="Arial"/>
                <a:ea typeface="Arial"/>
                <a:cs typeface="Arial"/>
              </a:rPr>
              <a:t>Бронь</a:t>
            </a:r>
          </a:p>
          <a:p xmlns:a="http://schemas.openxmlformats.org/drawingml/2006/main">
            <a:pPr algn="ctr">
              <a:defRPr sz="2175">
                <a:solidFill>
                  <a:srgbClr val="14233B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14233B"/>
                </a:solidFill>
                <a:latin typeface="Arial"/>
                <a:ea typeface="Arial"/>
                <a:cs typeface="Arial"/>
              </a:rPr>
              <a:t>поезда</a:t>
            </a:r>
          </a:p>
        </p:txBody>
      </p:sp>
      <p:sp>
        <p:nvSpPr>
          <p:cNvPr id="4" name="Бронь парома">
            <a:extLst xmlns:a="http://schemas.openxmlformats.org/drawingml/2006/main">
              <a:ext uri="{FF2B5EF4-FFF2-40B4-BE49-F238E27FC236}">
                <a16:creationId xmlns:a16="http://schemas.microsoft.com/office/drawing/2014/main" id="{57884E05-055B-4288-9362-15EA85AD7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238375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7"/>
          </a:solidFill>
          <a:ln xmlns:a="http://schemas.openxmlformats.org/drawingml/2006/main" w="13335">
            <a:solidFill>
              <a:srgbClr val="B9C9D7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2175">
                <a:solidFill>
                  <a:srgbClr val="14233B"/>
                </a:solidFill>
                <a:latin typeface="Arial"/>
                <a:ea typeface="Arial"/>
                <a:cs typeface="Arial"/>
              </a:defRPr>
            </a:defPPr>
            <a:lvl1pPr algn="ctr">
              <a:defRPr sz="21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75">
                <a:solidFill>
                  <a:srgbClr val="14233B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14233B"/>
                </a:solidFill>
                <a:latin typeface="Arial"/>
                <a:ea typeface="Arial"/>
                <a:cs typeface="Arial"/>
              </a:rPr>
              <a:t>Бронь</a:t>
            </a:r>
          </a:p>
          <a:p xmlns:a="http://schemas.openxmlformats.org/drawingml/2006/main">
            <a:pPr algn="ctr">
              <a:defRPr sz="2175">
                <a:solidFill>
                  <a:srgbClr val="14233B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14233B"/>
                </a:solidFill>
                <a:latin typeface="Arial"/>
                <a:ea typeface="Arial"/>
                <a:cs typeface="Arial"/>
              </a:rPr>
              <a:t>парома</a:t>
            </a:r>
          </a:p>
        </p:txBody>
      </p:sp>
      <p:sp>
        <p:nvSpPr>
          <p:cNvPr id="5" name="Оплата маршрута">
            <a:extLst xmlns:a="http://schemas.openxmlformats.org/drawingml/2006/main">
              <a:ext uri="{FF2B5EF4-FFF2-40B4-BE49-F238E27FC236}">
                <a16:creationId xmlns:a16="http://schemas.microsoft.com/office/drawing/2014/main" id="{61E0D466-EF24-4285-AF25-2F27C138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38375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7"/>
          </a:solidFill>
          <a:ln xmlns:a="http://schemas.openxmlformats.org/drawingml/2006/main" w="13335">
            <a:solidFill>
              <a:srgbClr val="B9C9D7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2175">
                <a:solidFill>
                  <a:srgbClr val="14233B"/>
                </a:solidFill>
                <a:latin typeface="Arial"/>
                <a:ea typeface="Arial"/>
                <a:cs typeface="Arial"/>
              </a:defRPr>
            </a:defPPr>
            <a:lvl1pPr algn="ctr">
              <a:defRPr sz="21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75">
                <a:solidFill>
                  <a:srgbClr val="14233B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14233B"/>
                </a:solidFill>
                <a:latin typeface="Arial"/>
                <a:ea typeface="Arial"/>
                <a:cs typeface="Arial"/>
              </a:rPr>
              <a:t>Оплата</a:t>
            </a:r>
          </a:p>
          <a:p xmlns:a="http://schemas.openxmlformats.org/drawingml/2006/main">
            <a:pPr algn="ctr">
              <a:defRPr sz="2175">
                <a:solidFill>
                  <a:srgbClr val="14233B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14233B"/>
                </a:solidFill>
                <a:latin typeface="Arial"/>
                <a:ea typeface="Arial"/>
                <a:cs typeface="Arial"/>
              </a:rPr>
              <a:t>маршрута</a:t>
            </a:r>
          </a:p>
        </p:txBody>
      </p:sp>
      <p:sp>
        <p:nvSpPr>
          <p:cNvPr id="6" name="Заказ COMPLETED">
            <a:extLst xmlns:a="http://schemas.openxmlformats.org/drawingml/2006/main">
              <a:ext uri="{FF2B5EF4-FFF2-40B4-BE49-F238E27FC236}">
                <a16:creationId xmlns:a16="http://schemas.microsoft.com/office/drawing/2014/main" id="{3A2A87E0-727B-4D90-9A90-4B726C1E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238375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EC"/>
          </a:solidFill>
          <a:ln xmlns:a="http://schemas.openxmlformats.org/drawingml/2006/main" w="13335">
            <a:solidFill>
              <a:srgbClr val="B9C9D7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2175">
                <a:solidFill>
                  <a:srgbClr val="14233B"/>
                </a:solidFill>
                <a:latin typeface="Arial"/>
                <a:ea typeface="Arial"/>
                <a:cs typeface="Arial"/>
              </a:defRPr>
            </a:defPPr>
            <a:lvl1pPr algn="ctr">
              <a:defRPr sz="21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>
                <a:solidFill>
                  <a:srgbClr val="142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75">
                <a:solidFill>
                  <a:srgbClr val="14233B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14233B"/>
                </a:solidFill>
                <a:latin typeface="Arial"/>
                <a:ea typeface="Arial"/>
                <a:cs typeface="Arial"/>
              </a:rPr>
              <a:t>Заказ</a:t>
            </a:r>
          </a:p>
          <a:p xmlns:a="http://schemas.openxmlformats.org/drawingml/2006/main">
            <a:pPr algn="ctr">
              <a:defRPr sz="2175">
                <a:solidFill>
                  <a:srgbClr val="14233B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14233B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B993B4-CAA5-4C6B-BB81-29A84F6B5940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990850" y="28098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66F91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61D993-0568-4785-9398-47146F08BED6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848350" y="28098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66F91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8866F1-FEFF-477E-9C8C-C723665793E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705850" y="28098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66F91"/>
            </a:solidFill>
            <a:tailEnd type="arrow" w="med" len="med"/>
          </a:ln>
        </p:spPr>
      </p:cxnSp>
      <p:sp>
        <p:nvSpPr>
          <p:cNvPr id="10" name="Координатор шагов: Booking">
            <a:extLst xmlns:a="http://schemas.openxmlformats.org/drawingml/2006/main">
              <a:ext uri="{FF2B5EF4-FFF2-40B4-BE49-F238E27FC236}">
                <a16:creationId xmlns:a16="http://schemas.microsoft.com/office/drawing/2014/main" id="{36BB17E5-DB49-4C19-88B1-36B22D9B0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475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66F91"/>
                </a:solidFill>
                <a:latin typeface="Arial"/>
                <a:ea typeface="Arial"/>
                <a:cs typeface="Arial"/>
              </a:rPr>
              <a:t>Координатор шагов: Booking</a:t>
            </a:r>
          </a:p>
        </p:txBody>
      </p:sp>
      <p:sp>
        <p:nvSpPr>
          <p:cNvPr id="11" name="Saga сохраняет шаги и запускает компенсации при сб">
            <a:extLst xmlns:a="http://schemas.openxmlformats.org/drawingml/2006/main">
              <a:ext uri="{FF2B5EF4-FFF2-40B4-BE49-F238E27FC236}">
                <a16:creationId xmlns:a16="http://schemas.microsoft.com/office/drawing/2014/main" id="{5708B6D5-FF50-4326-B037-4060269D2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Saga сохраняет шаги и запускает компенсации при сбое</a:t>
            </a:r>
          </a:p>
        </p:txBody>
      </p:sp>
    </p:spTree>
    <p:extLst>
      <p:ext uri="{BB962C8B-B14F-4D97-AF65-F5344CB8AC3E}">
        <p14:creationId xmlns:p14="http://schemas.microsoft.com/office/powerpoint/2010/main" val="16991693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Сбой 1: на пароме нет места">
            <a:extLst xmlns:a="http://schemas.openxmlformats.org/drawingml/2006/main">
              <a:ext uri="{FF2B5EF4-FFF2-40B4-BE49-F238E27FC236}">
                <a16:creationId xmlns:a16="http://schemas.microsoft.com/office/drawing/2014/main" id="{DAFA232A-F82F-4B43-BD32-451DFD8A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33B"/>
                </a:solidFill>
                <a:latin typeface="Arial"/>
                <a:ea typeface="Arial"/>
                <a:cs typeface="Arial"/>
              </a:rPr>
              <a:t>Сбой 1: на пароме нет места</a:t>
            </a:r>
          </a:p>
        </p:txBody>
      </p:sp>
      <p:sp>
        <p:nvSpPr>
          <p:cNvPr id="2" name="06">
            <a:extLst xmlns:a="http://schemas.openxmlformats.org/drawingml/2006/main">
              <a:ext uri="{FF2B5EF4-FFF2-40B4-BE49-F238E27FC236}">
                <a16:creationId xmlns:a16="http://schemas.microsoft.com/office/drawing/2014/main" id="{658F7C2F-4536-48DD-BDEF-75800E24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1">
            <a:extLst xmlns:a="http://schemas.openxmlformats.org/drawingml/2006/main">
              <a:ext uri="{FF2B5EF4-FFF2-40B4-BE49-F238E27FC236}">
                <a16:creationId xmlns:a16="http://schemas.microsoft.com/office/drawing/2014/main" id="{3D86FFDB-611F-41B8-8E7F-A5BFD22A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6F9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Поезд забронирован">
            <a:extLst xmlns:a="http://schemas.openxmlformats.org/drawingml/2006/main">
              <a:ext uri="{FF2B5EF4-FFF2-40B4-BE49-F238E27FC236}">
                <a16:creationId xmlns:a16="http://schemas.microsoft.com/office/drawing/2014/main" id="{1D10F82B-F501-494C-806D-7158D2A2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66875"/>
            <a:ext cx="1009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233B"/>
                </a:solidFill>
                <a:latin typeface="Arial"/>
                <a:ea typeface="Arial"/>
                <a:cs typeface="Arial"/>
              </a:rPr>
              <a:t>Поезд забронирован</a:t>
            </a:r>
          </a:p>
        </p:txBody>
      </p:sp>
      <p:sp>
        <p:nvSpPr>
          <p:cNvPr id="5" name="Первый шаг покупки уже выполнен">
            <a:extLst xmlns:a="http://schemas.openxmlformats.org/drawingml/2006/main">
              <a:ext uri="{FF2B5EF4-FFF2-40B4-BE49-F238E27FC236}">
                <a16:creationId xmlns:a16="http://schemas.microsoft.com/office/drawing/2014/main" id="{15EF5F85-AAEC-4D5E-B45A-09B90211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81225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Первый шаг покупки уже выполнен</a:t>
            </a:r>
          </a:p>
        </p:txBody>
      </p:sp>
      <p:sp>
        <p:nvSpPr>
          <p:cNvPr id="6" name="2">
            <a:extLst xmlns:a="http://schemas.openxmlformats.org/drawingml/2006/main">
              <a:ext uri="{FF2B5EF4-FFF2-40B4-BE49-F238E27FC236}">
                <a16:creationId xmlns:a16="http://schemas.microsoft.com/office/drawing/2014/main" id="{7D895740-F7D8-4578-845B-10712A235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6F9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Паром отвечает SOLD_OUT">
            <a:extLst xmlns:a="http://schemas.openxmlformats.org/drawingml/2006/main">
              <a:ext uri="{FF2B5EF4-FFF2-40B4-BE49-F238E27FC236}">
                <a16:creationId xmlns:a16="http://schemas.microsoft.com/office/drawing/2014/main" id="{5AD1A55A-63C8-4956-B376-BD9ECADF6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00375"/>
            <a:ext cx="1009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233B"/>
                </a:solidFill>
                <a:latin typeface="Arial"/>
                <a:ea typeface="Arial"/>
                <a:cs typeface="Arial"/>
              </a:rPr>
              <a:t>Паром отвечает SOLD_OUT</a:t>
            </a:r>
          </a:p>
        </p:txBody>
      </p:sp>
      <p:sp>
        <p:nvSpPr>
          <p:cNvPr id="8" name="Booking переводит заказ в CANCELLING">
            <a:extLst xmlns:a="http://schemas.openxmlformats.org/drawingml/2006/main">
              <a:ext uri="{FF2B5EF4-FFF2-40B4-BE49-F238E27FC236}">
                <a16:creationId xmlns:a16="http://schemas.microsoft.com/office/drawing/2014/main" id="{D251E375-BAB3-400D-BA37-6AF1373F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14725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Booking переводит заказ в CANCELLING</a:t>
            </a:r>
          </a:p>
        </p:txBody>
      </p:sp>
      <p:sp>
        <p:nvSpPr>
          <p:cNvPr id="9" name="3">
            <a:extLst xmlns:a="http://schemas.openxmlformats.org/drawingml/2006/main">
              <a:ext uri="{FF2B5EF4-FFF2-40B4-BE49-F238E27FC236}">
                <a16:creationId xmlns:a16="http://schemas.microsoft.com/office/drawing/2014/main" id="{B0905B0F-0EA5-4049-A54F-00B4A71A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6F91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Reservations отменяет бронь поезда">
            <a:extLst xmlns:a="http://schemas.openxmlformats.org/drawingml/2006/main">
              <a:ext uri="{FF2B5EF4-FFF2-40B4-BE49-F238E27FC236}">
                <a16:creationId xmlns:a16="http://schemas.microsoft.com/office/drawing/2014/main" id="{B67FF4A6-E629-4CDB-80CA-4CE144FEA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33875"/>
            <a:ext cx="1009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233B"/>
                </a:solidFill>
                <a:latin typeface="Arial"/>
                <a:ea typeface="Arial"/>
                <a:cs typeface="Arial"/>
              </a:rPr>
              <a:t>Reservations отменяет бронь поезда</a:t>
            </a:r>
          </a:p>
        </p:txBody>
      </p:sp>
      <p:sp>
        <p:nvSpPr>
          <p:cNvPr id="11" name="После подтверждений заказ получает CANCELLED">
            <a:extLst xmlns:a="http://schemas.openxmlformats.org/drawingml/2006/main">
              <a:ext uri="{FF2B5EF4-FFF2-40B4-BE49-F238E27FC236}">
                <a16:creationId xmlns:a16="http://schemas.microsoft.com/office/drawing/2014/main" id="{B993DF1B-AF4D-4A57-B8ED-73EDB5CFA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48225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После подтверждений заказ получает CANCELLED</a:t>
            </a:r>
          </a:p>
        </p:txBody>
      </p:sp>
      <p:sp>
        <p:nvSpPr>
          <p:cNvPr id="12" name="Оплата ещё не запускалась, возврат не нужен">
            <a:extLst xmlns:a="http://schemas.openxmlformats.org/drawingml/2006/main">
              <a:ext uri="{FF2B5EF4-FFF2-40B4-BE49-F238E27FC236}">
                <a16:creationId xmlns:a16="http://schemas.microsoft.com/office/drawing/2014/main" id="{34131082-B589-42A6-B1C3-1F88AE3B2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1025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1">
                <a:solidFill>
                  <a:srgbClr val="157347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57347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57347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57347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57347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57347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57347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57347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57347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573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5734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7347"/>
                </a:solidFill>
                <a:latin typeface="Arial"/>
                <a:ea typeface="Arial"/>
                <a:cs typeface="Arial"/>
              </a:rPr>
              <a:t>Оплата ещё не запускалась, возврат не нужен</a:t>
            </a:r>
          </a:p>
        </p:txBody>
      </p:sp>
    </p:spTree>
    <p:extLst>
      <p:ext uri="{BB962C8B-B14F-4D97-AF65-F5344CB8AC3E}">
        <p14:creationId xmlns:p14="http://schemas.microsoft.com/office/powerpoint/2010/main" val="7466504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Сбой 2: платёж отклонён">
            <a:extLst xmlns:a="http://schemas.openxmlformats.org/drawingml/2006/main">
              <a:ext uri="{FF2B5EF4-FFF2-40B4-BE49-F238E27FC236}">
                <a16:creationId xmlns:a16="http://schemas.microsoft.com/office/drawing/2014/main" id="{65BEC6C1-FE4A-4FA3-9DB0-FCD77AD2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33B"/>
                </a:solidFill>
                <a:latin typeface="Arial"/>
                <a:ea typeface="Arial"/>
                <a:cs typeface="Arial"/>
              </a:rPr>
              <a:t>Сбой 2: платёж отклонён</a:t>
            </a:r>
          </a:p>
        </p:txBody>
      </p:sp>
      <p:sp>
        <p:nvSpPr>
          <p:cNvPr id="2" name="07">
            <a:extLst xmlns:a="http://schemas.openxmlformats.org/drawingml/2006/main">
              <a:ext uri="{FF2B5EF4-FFF2-40B4-BE49-F238E27FC236}">
                <a16:creationId xmlns:a16="http://schemas.microsoft.com/office/drawing/2014/main" id="{D2D10EB2-BDAD-4F21-AFB7-3A30B71B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1">
            <a:extLst xmlns:a="http://schemas.openxmlformats.org/drawingml/2006/main">
              <a:ext uri="{FF2B5EF4-FFF2-40B4-BE49-F238E27FC236}">
                <a16:creationId xmlns:a16="http://schemas.microsoft.com/office/drawing/2014/main" id="{2B56041C-2B15-477B-9874-1B496A01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6F9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Обе брони готовы">
            <a:extLst xmlns:a="http://schemas.openxmlformats.org/drawingml/2006/main">
              <a:ext uri="{FF2B5EF4-FFF2-40B4-BE49-F238E27FC236}">
                <a16:creationId xmlns:a16="http://schemas.microsoft.com/office/drawing/2014/main" id="{6411F7DA-0427-4A4D-9E31-E06C6463A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66875"/>
            <a:ext cx="1009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233B"/>
                </a:solidFill>
                <a:latin typeface="Arial"/>
                <a:ea typeface="Arial"/>
                <a:cs typeface="Arial"/>
              </a:rPr>
              <a:t>Обе брони готовы</a:t>
            </a:r>
          </a:p>
        </p:txBody>
      </p:sp>
      <p:sp>
        <p:nvSpPr>
          <p:cNvPr id="5" name="Booking отправляет команду ChargePayment">
            <a:extLst xmlns:a="http://schemas.openxmlformats.org/drawingml/2006/main">
              <a:ext uri="{FF2B5EF4-FFF2-40B4-BE49-F238E27FC236}">
                <a16:creationId xmlns:a16="http://schemas.microsoft.com/office/drawing/2014/main" id="{F0C66DDF-B755-470A-B42F-FBAD1930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81225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Booking отправляет команду ChargePayment</a:t>
            </a:r>
          </a:p>
        </p:txBody>
      </p:sp>
      <p:sp>
        <p:nvSpPr>
          <p:cNvPr id="6" name="2">
            <a:extLst xmlns:a="http://schemas.openxmlformats.org/drawingml/2006/main">
              <a:ext uri="{FF2B5EF4-FFF2-40B4-BE49-F238E27FC236}">
                <a16:creationId xmlns:a16="http://schemas.microsoft.com/office/drawing/2014/main" id="{244B6C62-62B7-4C20-AF65-05400DB56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6F9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Провайдер отклоняет оплату">
            <a:extLst xmlns:a="http://schemas.openxmlformats.org/drawingml/2006/main">
              <a:ext uri="{FF2B5EF4-FFF2-40B4-BE49-F238E27FC236}">
                <a16:creationId xmlns:a16="http://schemas.microsoft.com/office/drawing/2014/main" id="{422A64C1-C784-41DC-A4BB-7D472454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00375"/>
            <a:ext cx="1009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233B"/>
                </a:solidFill>
                <a:latin typeface="Arial"/>
                <a:ea typeface="Arial"/>
                <a:cs typeface="Arial"/>
              </a:rPr>
              <a:t>Провайдер отклоняет оплату</a:t>
            </a:r>
          </a:p>
        </p:txBody>
      </p:sp>
      <p:sp>
        <p:nvSpPr>
          <p:cNvPr id="8" name="Payments сообщает PaymentFailed">
            <a:extLst xmlns:a="http://schemas.openxmlformats.org/drawingml/2006/main">
              <a:ext uri="{FF2B5EF4-FFF2-40B4-BE49-F238E27FC236}">
                <a16:creationId xmlns:a16="http://schemas.microsoft.com/office/drawing/2014/main" id="{5E1A6B12-F995-4E3A-8983-083BE3756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14725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Payments сообщает PaymentFailed</a:t>
            </a:r>
          </a:p>
        </p:txBody>
      </p:sp>
      <p:sp>
        <p:nvSpPr>
          <p:cNvPr id="9" name="3">
            <a:extLst xmlns:a="http://schemas.openxmlformats.org/drawingml/2006/main">
              <a:ext uri="{FF2B5EF4-FFF2-40B4-BE49-F238E27FC236}">
                <a16:creationId xmlns:a16="http://schemas.microsoft.com/office/drawing/2014/main" id="{8A582EFE-E83B-4F41-84DD-01246E4E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6F91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Reservations отменяет обе брони">
            <a:extLst xmlns:a="http://schemas.openxmlformats.org/drawingml/2006/main">
              <a:ext uri="{FF2B5EF4-FFF2-40B4-BE49-F238E27FC236}">
                <a16:creationId xmlns:a16="http://schemas.microsoft.com/office/drawing/2014/main" id="{80A87172-90DB-42B2-82EC-7500F11CD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33875"/>
            <a:ext cx="1009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233B"/>
                </a:solidFill>
                <a:latin typeface="Arial"/>
                <a:ea typeface="Arial"/>
                <a:cs typeface="Arial"/>
              </a:rPr>
              <a:t>Reservations отменяет обе брони</a:t>
            </a:r>
          </a:p>
        </p:txBody>
      </p:sp>
      <p:sp>
        <p:nvSpPr>
          <p:cNvPr id="11" name="Места снова доступны другим пассажирам">
            <a:extLst xmlns:a="http://schemas.openxmlformats.org/drawingml/2006/main">
              <a:ext uri="{FF2B5EF4-FFF2-40B4-BE49-F238E27FC236}">
                <a16:creationId xmlns:a16="http://schemas.microsoft.com/office/drawing/2014/main" id="{A9E2E611-40A4-494A-846D-F79CB6F8B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48225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Места снова доступны другим пассажирам</a:t>
            </a:r>
          </a:p>
        </p:txBody>
      </p:sp>
      <p:sp>
        <p:nvSpPr>
          <p:cNvPr id="12" name="Окончательный отказ подтверждает отсутствие списан">
            <a:extLst xmlns:a="http://schemas.openxmlformats.org/drawingml/2006/main">
              <a:ext uri="{FF2B5EF4-FFF2-40B4-BE49-F238E27FC236}">
                <a16:creationId xmlns:a16="http://schemas.microsoft.com/office/drawing/2014/main" id="{5A7586A9-35D3-4C57-B381-4F88F7F21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1025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1">
                <a:solidFill>
                  <a:srgbClr val="157347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57347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57347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57347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57347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57347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57347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57347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57347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573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5734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7347"/>
                </a:solidFill>
                <a:latin typeface="Arial"/>
                <a:ea typeface="Arial"/>
                <a:cs typeface="Arial"/>
              </a:rPr>
              <a:t>Окончательный отказ подтверждает отсутствие списания</a:t>
            </a:r>
          </a:p>
        </p:txBody>
      </p:sp>
    </p:spTree>
    <p:extLst>
      <p:ext uri="{BB962C8B-B14F-4D97-AF65-F5344CB8AC3E}">
        <p14:creationId xmlns:p14="http://schemas.microsoft.com/office/powerpoint/2010/main" val="1846173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Сбой 3: ответ на оплату потерялся">
            <a:extLst xmlns:a="http://schemas.openxmlformats.org/drawingml/2006/main">
              <a:ext uri="{FF2B5EF4-FFF2-40B4-BE49-F238E27FC236}">
                <a16:creationId xmlns:a16="http://schemas.microsoft.com/office/drawing/2014/main" id="{68C62C2B-B726-42D8-9F9F-8DEBF913E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33B"/>
                </a:solidFill>
                <a:latin typeface="Arial"/>
                <a:ea typeface="Arial"/>
                <a:cs typeface="Arial"/>
              </a:rPr>
              <a:t>Сбой 3: ответ на оплату потерялся</a:t>
            </a:r>
          </a:p>
        </p:txBody>
      </p:sp>
      <p:sp>
        <p:nvSpPr>
          <p:cNvPr id="2" name="08">
            <a:extLst xmlns:a="http://schemas.openxmlformats.org/drawingml/2006/main">
              <a:ext uri="{FF2B5EF4-FFF2-40B4-BE49-F238E27FC236}">
                <a16:creationId xmlns:a16="http://schemas.microsoft.com/office/drawing/2014/main" id="{99048044-4D2E-48B4-8FFD-9DBA10614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Тайм-аут оставляет исход неизвестным">
            <a:extLst xmlns:a="http://schemas.openxmlformats.org/drawingml/2006/main">
              <a:ext uri="{FF2B5EF4-FFF2-40B4-BE49-F238E27FC236}">
                <a16:creationId xmlns:a16="http://schemas.microsoft.com/office/drawing/2014/main" id="{92B44BAF-EB13-4251-93EE-1EDD097E7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625" b="1">
                <a:solidFill>
                  <a:srgbClr val="A52A37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1">
                <a:solidFill>
                  <a:srgbClr val="A52A37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1">
                <a:solidFill>
                  <a:srgbClr val="A52A37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1">
                <a:solidFill>
                  <a:srgbClr val="A52A37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1">
                <a:solidFill>
                  <a:srgbClr val="A52A37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1">
                <a:solidFill>
                  <a:srgbClr val="A52A37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1">
                <a:solidFill>
                  <a:srgbClr val="A52A37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1">
                <a:solidFill>
                  <a:srgbClr val="A52A37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1">
                <a:solidFill>
                  <a:srgbClr val="A52A37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1">
                <a:solidFill>
                  <a:srgbClr val="A52A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A52A37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A52A37"/>
                </a:solidFill>
                <a:latin typeface="Arial"/>
                <a:ea typeface="Arial"/>
                <a:cs typeface="Arial"/>
              </a:rPr>
              <a:t>Тайм-аут оставляет исход неизвестным</a:t>
            </a:r>
          </a:p>
        </p:txBody>
      </p:sp>
      <p:sp>
        <p:nvSpPr>
          <p:cNvPr id="4" name="Payments проверяет статус по прежнему operationId">
            <a:extLst xmlns:a="http://schemas.openxmlformats.org/drawingml/2006/main">
              <a:ext uri="{FF2B5EF4-FFF2-40B4-BE49-F238E27FC236}">
                <a16:creationId xmlns:a16="http://schemas.microsoft.com/office/drawing/2014/main" id="{2A2E436E-AAD0-4C4A-8A89-4ECD63A52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33B"/>
                </a:solidFill>
                <a:latin typeface="Arial"/>
                <a:ea typeface="Arial"/>
                <a:cs typeface="Arial"/>
              </a:rPr>
              <a:t>Payments проверяет статус по прежнему operationId</a:t>
            </a:r>
          </a:p>
        </p:txBody>
      </p:sp>
      <p:sp>
        <p:nvSpPr>
          <p:cNvPr id="5" name="До начала отмены">
            <a:extLst xmlns:a="http://schemas.openxmlformats.org/drawingml/2006/main">
              <a:ext uri="{FF2B5EF4-FFF2-40B4-BE49-F238E27FC236}">
                <a16:creationId xmlns:a16="http://schemas.microsoft.com/office/drawing/2014/main" id="{9EFFA68D-17AF-46F4-9DE5-3DFF863AF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325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66F91"/>
                </a:solidFill>
                <a:latin typeface="Arial"/>
                <a:ea typeface="Arial"/>
                <a:cs typeface="Arial"/>
              </a:rPr>
              <a:t>До начала отмены</a:t>
            </a:r>
          </a:p>
        </p:txBody>
      </p:sp>
      <p:sp>
        <p:nvSpPr>
          <p:cNvPr id="6" name="Подтвердить успешную оплату&#10;и завершить покупку">
            <a:extLst xmlns:a="http://schemas.openxmlformats.org/drawingml/2006/main">
              <a:ext uri="{FF2B5EF4-FFF2-40B4-BE49-F238E27FC236}">
                <a16:creationId xmlns:a16="http://schemas.microsoft.com/office/drawing/2014/main" id="{F8051778-A2FD-4EEE-88A8-A4097066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485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00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33B"/>
                </a:solidFill>
                <a:latin typeface="Arial"/>
                <a:ea typeface="Arial"/>
                <a:cs typeface="Arial"/>
              </a:rPr>
              <a:t>Подтвердить успешную оплату</a:t>
            </a:r>
          </a:p>
          <a:p xmlns:a="http://schemas.openxmlformats.org/drawingml/2006/main">
            <a:pPr algn="l">
              <a:defRPr sz="2100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33B"/>
                </a:solidFill>
                <a:latin typeface="Arial"/>
                <a:ea typeface="Arial"/>
                <a:cs typeface="Arial"/>
              </a:rPr>
              <a:t>и завершить покупку</a:t>
            </a:r>
          </a:p>
        </p:txBody>
      </p:sp>
      <p:sp>
        <p:nvSpPr>
          <p:cNvPr id="7" name="После начала отмены">
            <a:extLst xmlns:a="http://schemas.openxmlformats.org/drawingml/2006/main">
              <a:ext uri="{FF2B5EF4-FFF2-40B4-BE49-F238E27FC236}">
                <a16:creationId xmlns:a16="http://schemas.microsoft.com/office/drawing/2014/main" id="{FD96EA46-B0CC-40C0-8169-3D9384B7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14750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325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66F91"/>
                </a:solidFill>
                <a:latin typeface="Arial"/>
                <a:ea typeface="Arial"/>
                <a:cs typeface="Arial"/>
              </a:rPr>
              <a:t>После начала отмены</a:t>
            </a:r>
          </a:p>
        </p:txBody>
      </p:sp>
      <p:sp>
        <p:nvSpPr>
          <p:cNvPr id="8" name="Отменить обе брони&#10;и вернуть списанную сумму">
            <a:extLst xmlns:a="http://schemas.openxmlformats.org/drawingml/2006/main">
              <a:ext uri="{FF2B5EF4-FFF2-40B4-BE49-F238E27FC236}">
                <a16:creationId xmlns:a16="http://schemas.microsoft.com/office/drawing/2014/main" id="{0700A4BA-3C22-4E0F-9B61-C619123D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81500"/>
            <a:ext cx="504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00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33B"/>
                </a:solidFill>
                <a:latin typeface="Arial"/>
                <a:ea typeface="Arial"/>
                <a:cs typeface="Arial"/>
              </a:rPr>
              <a:t>Отменить обе брони</a:t>
            </a:r>
          </a:p>
          <a:p xmlns:a="http://schemas.openxmlformats.org/drawingml/2006/main">
            <a:pPr algn="l">
              <a:defRPr sz="2100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33B"/>
                </a:solidFill>
                <a:latin typeface="Arial"/>
                <a:ea typeface="Arial"/>
                <a:cs typeface="Arial"/>
              </a:rPr>
              <a:t>и вернуть списанную сумму</a:t>
            </a:r>
          </a:p>
        </p:txBody>
      </p:sp>
      <p:sp>
        <p:nvSpPr>
          <p:cNvPr id="9" name="Повторная попытка использует тот же ID операции">
            <a:extLst xmlns:a="http://schemas.openxmlformats.org/drawingml/2006/main">
              <a:ext uri="{FF2B5EF4-FFF2-40B4-BE49-F238E27FC236}">
                <a16:creationId xmlns:a16="http://schemas.microsoft.com/office/drawing/2014/main" id="{D2A7123E-A033-49D2-8C0A-21B3DE27B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33B"/>
                </a:solidFill>
                <a:latin typeface="Arial"/>
                <a:ea typeface="Arial"/>
                <a:cs typeface="Arial"/>
              </a:rPr>
              <a:t>Повторная попытка использует тот же ID операции</a:t>
            </a:r>
          </a:p>
        </p:txBody>
      </p:sp>
    </p:spTree>
    <p:extLst>
      <p:ext uri="{BB962C8B-B14F-4D97-AF65-F5344CB8AC3E}">
        <p14:creationId xmlns:p14="http://schemas.microsoft.com/office/powerpoint/2010/main" val="4650632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Защита от потерь и повторов">
            <a:extLst xmlns:a="http://schemas.openxmlformats.org/drawingml/2006/main">
              <a:ext uri="{FF2B5EF4-FFF2-40B4-BE49-F238E27FC236}">
                <a16:creationId xmlns:a16="http://schemas.microsoft.com/office/drawing/2014/main" id="{AF3E62AF-9A31-4AA3-813F-E2DD8445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33B"/>
                </a:solidFill>
                <a:latin typeface="Arial"/>
                <a:ea typeface="Arial"/>
                <a:cs typeface="Arial"/>
              </a:rPr>
              <a:t>Защита от потерь и повторов</a:t>
            </a:r>
          </a:p>
        </p:txBody>
      </p:sp>
      <p:sp>
        <p:nvSpPr>
          <p:cNvPr id="2" name="09">
            <a:extLst xmlns:a="http://schemas.openxmlformats.org/drawingml/2006/main">
              <a:ext uri="{FF2B5EF4-FFF2-40B4-BE49-F238E27FC236}">
                <a16:creationId xmlns:a16="http://schemas.microsoft.com/office/drawing/2014/main" id="{0A44E93A-FBDF-4DE6-B8ED-AC09584F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4DD557F3-DD3B-4824-A077-CEAACD73C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6F9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Outbox">
            <a:extLst xmlns:a="http://schemas.openxmlformats.org/drawingml/2006/main">
              <a:ext uri="{FF2B5EF4-FFF2-40B4-BE49-F238E27FC236}">
                <a16:creationId xmlns:a16="http://schemas.microsoft.com/office/drawing/2014/main" id="{D7B90F01-6506-4D0E-99E0-FC196D016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66875"/>
            <a:ext cx="1009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233B"/>
                </a:solidFill>
                <a:latin typeface="Arial"/>
                <a:ea typeface="Arial"/>
                <a:cs typeface="Arial"/>
              </a:rPr>
              <a:t>Outbox</a:t>
            </a:r>
          </a:p>
        </p:txBody>
      </p:sp>
      <p:sp>
        <p:nvSpPr>
          <p:cNvPr id="5" name="Изменение данных и сообщение сохраняются вместе">
            <a:extLst xmlns:a="http://schemas.openxmlformats.org/drawingml/2006/main">
              <a:ext uri="{FF2B5EF4-FFF2-40B4-BE49-F238E27FC236}">
                <a16:creationId xmlns:a16="http://schemas.microsoft.com/office/drawing/2014/main" id="{0F1C8888-5B2A-40E1-AAE9-FF3BDA00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81225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Изменение данных и сообщение сохраняются вместе</a:t>
            </a:r>
          </a:p>
        </p:txBody>
      </p:sp>
      <p:sp>
        <p:nvSpPr>
          <p:cNvPr id="6" name="02">
            <a:extLst xmlns:a="http://schemas.openxmlformats.org/drawingml/2006/main">
              <a:ext uri="{FF2B5EF4-FFF2-40B4-BE49-F238E27FC236}">
                <a16:creationId xmlns:a16="http://schemas.microsoft.com/office/drawing/2014/main" id="{8C8760CD-185B-4D9F-9B26-75EE6D9CD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6F9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Inbox">
            <a:extLst xmlns:a="http://schemas.openxmlformats.org/drawingml/2006/main">
              <a:ext uri="{FF2B5EF4-FFF2-40B4-BE49-F238E27FC236}">
                <a16:creationId xmlns:a16="http://schemas.microsoft.com/office/drawing/2014/main" id="{309BE48A-CD69-459D-A187-3E073436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48000"/>
            <a:ext cx="1009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233B"/>
                </a:solidFill>
                <a:latin typeface="Arial"/>
                <a:ea typeface="Arial"/>
                <a:cs typeface="Arial"/>
              </a:rPr>
              <a:t>Inbox</a:t>
            </a:r>
          </a:p>
        </p:txBody>
      </p:sp>
      <p:sp>
        <p:nvSpPr>
          <p:cNvPr id="8" name="Сервис запоминает ID обработанных сообщений">
            <a:extLst xmlns:a="http://schemas.openxmlformats.org/drawingml/2006/main">
              <a:ext uri="{FF2B5EF4-FFF2-40B4-BE49-F238E27FC236}">
                <a16:creationId xmlns:a16="http://schemas.microsoft.com/office/drawing/2014/main" id="{122751AF-9597-4B9A-8BFF-02B9613D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6235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Сервис запоминает ID обработанных сообщений</a:t>
            </a:r>
          </a:p>
        </p:txBody>
      </p:sp>
      <p:sp>
        <p:nvSpPr>
          <p:cNvPr id="9" name="03">
            <a:extLst xmlns:a="http://schemas.openxmlformats.org/drawingml/2006/main">
              <a:ext uri="{FF2B5EF4-FFF2-40B4-BE49-F238E27FC236}">
                <a16:creationId xmlns:a16="http://schemas.microsoft.com/office/drawing/2014/main" id="{A86029A3-391E-43B3-A0F9-31190FD67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6F9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Постоянный operationId">
            <a:extLst xmlns:a="http://schemas.openxmlformats.org/drawingml/2006/main">
              <a:ext uri="{FF2B5EF4-FFF2-40B4-BE49-F238E27FC236}">
                <a16:creationId xmlns:a16="http://schemas.microsoft.com/office/drawing/2014/main" id="{4AC4A0F4-A730-4340-8DE5-8566B773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29125"/>
            <a:ext cx="1009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233B"/>
                </a:solidFill>
                <a:latin typeface="Arial"/>
                <a:ea typeface="Arial"/>
                <a:cs typeface="Arial"/>
              </a:rPr>
              <a:t>Постоянный operationId</a:t>
            </a:r>
          </a:p>
        </p:txBody>
      </p:sp>
      <p:sp>
        <p:nvSpPr>
          <p:cNvPr id="11" name="Повтор запроса не создаёт второе списание или брон">
            <a:extLst xmlns:a="http://schemas.openxmlformats.org/drawingml/2006/main">
              <a:ext uri="{FF2B5EF4-FFF2-40B4-BE49-F238E27FC236}">
                <a16:creationId xmlns:a16="http://schemas.microsoft.com/office/drawing/2014/main" id="{65A94D60-CA79-421D-9A6E-40A781A7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43475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Повтор запроса не создаёт второе списание или бронь</a:t>
            </a:r>
          </a:p>
        </p:txBody>
      </p:sp>
    </p:spTree>
    <p:extLst>
      <p:ext uri="{BB962C8B-B14F-4D97-AF65-F5344CB8AC3E}">
        <p14:creationId xmlns:p14="http://schemas.microsoft.com/office/powerpoint/2010/main" val="10849040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Контракты сервисов">
            <a:extLst xmlns:a="http://schemas.openxmlformats.org/drawingml/2006/main">
              <a:ext uri="{FF2B5EF4-FFF2-40B4-BE49-F238E27FC236}">
                <a16:creationId xmlns:a16="http://schemas.microsoft.com/office/drawing/2014/main" id="{0D8A7C5A-839A-4FCB-94C7-27469D01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33B"/>
                </a:solidFill>
                <a:latin typeface="Arial"/>
                <a:ea typeface="Arial"/>
                <a:cs typeface="Arial"/>
              </a:rPr>
              <a:t>Контракты сервисов</a:t>
            </a:r>
          </a:p>
        </p:txBody>
      </p:sp>
      <p:sp>
        <p:nvSpPr>
          <p:cNvPr id="2" name="10">
            <a:extLst xmlns:a="http://schemas.openxmlformats.org/drawingml/2006/main">
              <a:ext uri="{FF2B5EF4-FFF2-40B4-BE49-F238E27FC236}">
                <a16:creationId xmlns:a16="http://schemas.microsoft.com/office/drawing/2014/main" id="{70451906-149A-4699-BC0D-9AD4ACFA0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OpenAPI: HTTP">
            <a:extLst xmlns:a="http://schemas.openxmlformats.org/drawingml/2006/main">
              <a:ext uri="{FF2B5EF4-FFF2-40B4-BE49-F238E27FC236}">
                <a16:creationId xmlns:a16="http://schemas.microsoft.com/office/drawing/2014/main" id="{E7BAEFB2-CB57-46C8-9935-9D1C46AC8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6F91"/>
                </a:solidFill>
                <a:latin typeface="Arial"/>
                <a:ea typeface="Arial"/>
                <a:cs typeface="Arial"/>
              </a:rPr>
              <a:t>OpenAPI: HTTP</a:t>
            </a:r>
          </a:p>
        </p:txBody>
      </p:sp>
      <p:sp>
        <p:nvSpPr>
          <p:cNvPr id="4" name="POST /bookings&#10;GET /bookings/{bookingId}">
            <a:extLst xmlns:a="http://schemas.openxmlformats.org/drawingml/2006/main">
              <a:ext uri="{FF2B5EF4-FFF2-40B4-BE49-F238E27FC236}">
                <a16:creationId xmlns:a16="http://schemas.microsoft.com/office/drawing/2014/main" id="{64FD57C9-C92A-47FB-8265-229DDD01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5334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33B"/>
                </a:solidFill>
                <a:latin typeface="Arial"/>
                <a:ea typeface="Arial"/>
                <a:cs typeface="Arial"/>
              </a:rPr>
              <a:t>POST /bookings</a:t>
            </a:r>
          </a:p>
          <a:p xmlns:a="http://schemas.openxmlformats.org/drawingml/2006/main">
            <a:pPr algn="l">
              <a:defRPr sz="2175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33B"/>
                </a:solidFill>
                <a:latin typeface="Arial"/>
                <a:ea typeface="Arial"/>
                <a:cs typeface="Arial"/>
              </a:rPr>
              <a:t>GET /bookings/{bookingId}</a:t>
            </a:r>
          </a:p>
        </p:txBody>
      </p:sp>
      <p:sp>
        <p:nvSpPr>
          <p:cNvPr id="5" name="202: заказ принят&#10;Результат читаем отдельно">
            <a:extLst xmlns:a="http://schemas.openxmlformats.org/drawingml/2006/main">
              <a:ext uri="{FF2B5EF4-FFF2-40B4-BE49-F238E27FC236}">
                <a16:creationId xmlns:a16="http://schemas.microsoft.com/office/drawing/2014/main" id="{7773E1AB-BE96-4D66-BA88-08AA91A1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5143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0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202: заказ принят</a:t>
            </a:r>
          </a:p>
          <a:p xmlns:a="http://schemas.openxmlformats.org/drawingml/2006/main">
            <a:pPr algn="l">
              <a:defRPr sz="210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Результат читаем отдельно</a:t>
            </a:r>
          </a:p>
        </p:txBody>
      </p:sp>
      <p:sp>
        <p:nvSpPr>
          <p:cNvPr id="6" name="AsyncAPI: сообщения">
            <a:extLst xmlns:a="http://schemas.openxmlformats.org/drawingml/2006/main">
              <a:ext uri="{FF2B5EF4-FFF2-40B4-BE49-F238E27FC236}">
                <a16:creationId xmlns:a16="http://schemas.microsoft.com/office/drawing/2014/main" id="{53C28EE4-D77D-482D-AAE9-DC81DE93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66875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6F91"/>
                </a:solidFill>
                <a:latin typeface="Arial"/>
                <a:ea typeface="Arial"/>
                <a:cs typeface="Arial"/>
              </a:rPr>
              <a:t>AsyncAPI: сообщения</a:t>
            </a:r>
          </a:p>
        </p:txBody>
      </p:sp>
      <p:sp>
        <p:nvSpPr>
          <p:cNvPr id="7" name="ReserveLeg / CancelLeg&#10;ChargePayment / RefundPayme">
            <a:extLst xmlns:a="http://schemas.openxmlformats.org/drawingml/2006/main">
              <a:ext uri="{FF2B5EF4-FFF2-40B4-BE49-F238E27FC236}">
                <a16:creationId xmlns:a16="http://schemas.microsoft.com/office/drawing/2014/main" id="{CEFFE8BC-597A-4578-A69B-810781374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71750"/>
            <a:ext cx="5048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33B"/>
                </a:solidFill>
                <a:latin typeface="Arial"/>
                <a:ea typeface="Arial"/>
                <a:cs typeface="Arial"/>
              </a:rPr>
              <a:t>ReserveLeg / CancelLeg</a:t>
            </a:r>
          </a:p>
          <a:p xmlns:a="http://schemas.openxmlformats.org/drawingml/2006/main">
            <a:pPr algn="l">
              <a:defRPr sz="2025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33B"/>
                </a:solidFill>
                <a:latin typeface="Arial"/>
                <a:ea typeface="Arial"/>
                <a:cs typeface="Arial"/>
              </a:rPr>
              <a:t>ChargePayment / RefundPayment</a:t>
            </a:r>
          </a:p>
        </p:txBody>
      </p:sp>
      <p:sp>
        <p:nvSpPr>
          <p:cNvPr id="8" name="Команда просит действие&#10;Событие сообщает результат">
            <a:extLst xmlns:a="http://schemas.openxmlformats.org/drawingml/2006/main">
              <a:ext uri="{FF2B5EF4-FFF2-40B4-BE49-F238E27FC236}">
                <a16:creationId xmlns:a16="http://schemas.microsoft.com/office/drawing/2014/main" id="{C1B1DA85-985A-4CE4-BEAD-63ED4BA5A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33875"/>
            <a:ext cx="5048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0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Команда просит действие</a:t>
            </a:r>
          </a:p>
          <a:p xmlns:a="http://schemas.openxmlformats.org/drawingml/2006/main">
            <a:pPr algn="l">
              <a:defRPr sz="210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Событие сообщает результат</a:t>
            </a:r>
          </a:p>
        </p:txBody>
      </p:sp>
    </p:spTree>
    <p:extLst>
      <p:ext uri="{BB962C8B-B14F-4D97-AF65-F5344CB8AC3E}">
        <p14:creationId xmlns:p14="http://schemas.microsoft.com/office/powerpoint/2010/main" val="12474189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Четыре архитектурных решения">
            <a:extLst xmlns:a="http://schemas.openxmlformats.org/drawingml/2006/main">
              <a:ext uri="{FF2B5EF4-FFF2-40B4-BE49-F238E27FC236}">
                <a16:creationId xmlns:a16="http://schemas.microsoft.com/office/drawing/2014/main" id="{D729C06C-4FAB-4372-A7F4-3DEFB567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33B"/>
                </a:solidFill>
                <a:latin typeface="Arial"/>
                <a:ea typeface="Arial"/>
                <a:cs typeface="Arial"/>
              </a:rPr>
              <a:t>Четыре архитектурных решения</a:t>
            </a:r>
          </a:p>
        </p:txBody>
      </p:sp>
      <p:sp>
        <p:nvSpPr>
          <p:cNvPr id="2" name="11">
            <a:extLst xmlns:a="http://schemas.openxmlformats.org/drawingml/2006/main">
              <a:ext uri="{FF2B5EF4-FFF2-40B4-BE49-F238E27FC236}">
                <a16:creationId xmlns:a16="http://schemas.microsoft.com/office/drawing/2014/main" id="{B8012A55-0034-4B20-AD3D-F3548CCBF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72BCEFCF-7F9E-4D5B-AD4F-6BFC3922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2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6F9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Три сервиса">
            <a:extLst xmlns:a="http://schemas.openxmlformats.org/drawingml/2006/main">
              <a:ext uri="{FF2B5EF4-FFF2-40B4-BE49-F238E27FC236}">
                <a16:creationId xmlns:a16="http://schemas.microsoft.com/office/drawing/2014/main" id="{7A806CF3-E22C-4E77-912A-530783CDC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66875"/>
            <a:ext cx="4238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233B"/>
                </a:solidFill>
                <a:latin typeface="Arial"/>
                <a:ea typeface="Arial"/>
                <a:cs typeface="Arial"/>
              </a:rPr>
              <a:t>Три сервиса</a:t>
            </a:r>
          </a:p>
        </p:txBody>
      </p:sp>
      <p:sp>
        <p:nvSpPr>
          <p:cNvPr id="5" name="Разделяем заказ, брони и деньги">
            <a:extLst xmlns:a="http://schemas.openxmlformats.org/drawingml/2006/main">
              <a:ext uri="{FF2B5EF4-FFF2-40B4-BE49-F238E27FC236}">
                <a16:creationId xmlns:a16="http://schemas.microsoft.com/office/drawing/2014/main" id="{D94168A2-C669-4C6B-9FB4-B95B9AC0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66875"/>
            <a:ext cx="552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Разделяем заказ, брони и деньги</a:t>
            </a:r>
          </a:p>
        </p:txBody>
      </p:sp>
      <p:sp>
        <p:nvSpPr>
          <p:cNvPr id="6" name="02">
            <a:extLst xmlns:a="http://schemas.openxmlformats.org/drawingml/2006/main">
              <a:ext uri="{FF2B5EF4-FFF2-40B4-BE49-F238E27FC236}">
                <a16:creationId xmlns:a16="http://schemas.microsoft.com/office/drawing/2014/main" id="{934CD2A5-68E5-4623-A436-305EA9D55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2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6F9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Последовательная saga">
            <a:extLst xmlns:a="http://schemas.openxmlformats.org/drawingml/2006/main">
              <a:ext uri="{FF2B5EF4-FFF2-40B4-BE49-F238E27FC236}">
                <a16:creationId xmlns:a16="http://schemas.microsoft.com/office/drawing/2014/main" id="{9D2A1DCC-3D40-455A-87F2-74A3C68E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4238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233B"/>
                </a:solidFill>
                <a:latin typeface="Arial"/>
                <a:ea typeface="Arial"/>
                <a:cs typeface="Arial"/>
              </a:rPr>
              <a:t>Последовательная saga</a:t>
            </a:r>
          </a:p>
        </p:txBody>
      </p:sp>
      <p:sp>
        <p:nvSpPr>
          <p:cNvPr id="8" name="Booking управляет шагами и отменой">
            <a:extLst xmlns:a="http://schemas.openxmlformats.org/drawingml/2006/main">
              <a:ext uri="{FF2B5EF4-FFF2-40B4-BE49-F238E27FC236}">
                <a16:creationId xmlns:a16="http://schemas.microsoft.com/office/drawing/2014/main" id="{E05422BB-D34C-400D-9A9B-2D56BF6F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67000"/>
            <a:ext cx="552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Booking управляет шагами и отменой</a:t>
            </a:r>
          </a:p>
        </p:txBody>
      </p:sp>
      <p:sp>
        <p:nvSpPr>
          <p:cNvPr id="9" name="03">
            <a:extLst xmlns:a="http://schemas.openxmlformats.org/drawingml/2006/main">
              <a:ext uri="{FF2B5EF4-FFF2-40B4-BE49-F238E27FC236}">
                <a16:creationId xmlns:a16="http://schemas.microsoft.com/office/drawing/2014/main" id="{BCDC3798-9881-4B43-9008-BAC300676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2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6F9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RabbitMQ + outbox/inbox">
            <a:extLst xmlns:a="http://schemas.openxmlformats.org/drawingml/2006/main">
              <a:ext uri="{FF2B5EF4-FFF2-40B4-BE49-F238E27FC236}">
                <a16:creationId xmlns:a16="http://schemas.microsoft.com/office/drawing/2014/main" id="{20ADDC48-7499-46B7-A076-86269868D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67125"/>
            <a:ext cx="4238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233B"/>
                </a:solidFill>
                <a:latin typeface="Arial"/>
                <a:ea typeface="Arial"/>
                <a:cs typeface="Arial"/>
              </a:rPr>
              <a:t>RabbitMQ + outbox/inbox</a:t>
            </a:r>
          </a:p>
        </p:txBody>
      </p:sp>
      <p:sp>
        <p:nvSpPr>
          <p:cNvPr id="11" name="Сохраняем сообщения и распознаём повторы">
            <a:extLst xmlns:a="http://schemas.openxmlformats.org/drawingml/2006/main">
              <a:ext uri="{FF2B5EF4-FFF2-40B4-BE49-F238E27FC236}">
                <a16:creationId xmlns:a16="http://schemas.microsoft.com/office/drawing/2014/main" id="{DDEF87DA-118B-472D-88B3-2A6B819E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67125"/>
            <a:ext cx="552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Сохраняем сообщения и распознаём повторы</a:t>
            </a:r>
          </a:p>
        </p:txBody>
      </p:sp>
      <p:sp>
        <p:nvSpPr>
          <p:cNvPr id="12" name="04">
            <a:extLst xmlns:a="http://schemas.openxmlformats.org/drawingml/2006/main">
              <a:ext uri="{FF2B5EF4-FFF2-40B4-BE49-F238E27FC236}">
                <a16:creationId xmlns:a16="http://schemas.microsoft.com/office/drawing/2014/main" id="{DDB9E359-ADA1-4E9C-955B-7B620F1E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2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6F9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Идемпотентные операции">
            <a:extLst xmlns:a="http://schemas.openxmlformats.org/drawingml/2006/main">
              <a:ext uri="{FF2B5EF4-FFF2-40B4-BE49-F238E27FC236}">
                <a16:creationId xmlns:a16="http://schemas.microsoft.com/office/drawing/2014/main" id="{E3BA8CE4-1185-4154-8D06-99FFA6D05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67250"/>
            <a:ext cx="4238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233B"/>
                </a:solidFill>
                <a:latin typeface="Arial"/>
                <a:ea typeface="Arial"/>
                <a:cs typeface="Arial"/>
              </a:rPr>
              <a:t>Идемпотентные операции</a:t>
            </a:r>
          </a:p>
        </p:txBody>
      </p:sp>
      <p:sp>
        <p:nvSpPr>
          <p:cNvPr id="14" name="Проверяем результат по постоянному ID">
            <a:extLst xmlns:a="http://schemas.openxmlformats.org/drawingml/2006/main">
              <a:ext uri="{FF2B5EF4-FFF2-40B4-BE49-F238E27FC236}">
                <a16:creationId xmlns:a16="http://schemas.microsoft.com/office/drawing/2014/main" id="{CCA27480-8B19-4044-9741-A50B73F5C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667250"/>
            <a:ext cx="552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Проверяем результат по постоянному ID</a:t>
            </a:r>
          </a:p>
        </p:txBody>
      </p:sp>
    </p:spTree>
    <p:extLst>
      <p:ext uri="{BB962C8B-B14F-4D97-AF65-F5344CB8AC3E}">
        <p14:creationId xmlns:p14="http://schemas.microsoft.com/office/powerpoint/2010/main" val="184829613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Объём учебного проекта">
            <a:extLst xmlns:a="http://schemas.openxmlformats.org/drawingml/2006/main">
              <a:ext uri="{FF2B5EF4-FFF2-40B4-BE49-F238E27FC236}">
                <a16:creationId xmlns:a16="http://schemas.microsoft.com/office/drawing/2014/main" id="{F7DCA7F5-6982-4E96-B09F-31011F77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33B"/>
                </a:solidFill>
                <a:latin typeface="Arial"/>
                <a:ea typeface="Arial"/>
                <a:cs typeface="Arial"/>
              </a:rPr>
              <a:t>Объём учебного проекта</a:t>
            </a:r>
          </a:p>
        </p:txBody>
      </p:sp>
      <p:sp>
        <p:nvSpPr>
          <p:cNvPr id="2" name="12">
            <a:extLst xmlns:a="http://schemas.openxmlformats.org/drawingml/2006/main">
              <a:ext uri="{FF2B5EF4-FFF2-40B4-BE49-F238E27FC236}">
                <a16:creationId xmlns:a16="http://schemas.microsoft.com/office/drawing/2014/main" id="{2FA44C85-0D2F-41F6-8D05-A25843CCC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Первая часть">
            <a:extLst xmlns:a="http://schemas.openxmlformats.org/drawingml/2006/main">
              <a:ext uri="{FF2B5EF4-FFF2-40B4-BE49-F238E27FC236}">
                <a16:creationId xmlns:a16="http://schemas.microsoft.com/office/drawing/2014/main" id="{FB996CB1-8705-482E-B270-3F11BCC44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5000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6F91"/>
                </a:solidFill>
                <a:latin typeface="Arial"/>
                <a:ea typeface="Arial"/>
                <a:cs typeface="Arial"/>
              </a:rPr>
              <a:t>Первая часть</a:t>
            </a:r>
          </a:p>
        </p:txBody>
      </p:sp>
      <p:sp>
        <p:nvSpPr>
          <p:cNvPr id="4" name="Карта контекстов и C4&#10;OpenAPI и AsyncAPI&#10;Процесс и">
            <a:extLst xmlns:a="http://schemas.openxmlformats.org/drawingml/2006/main">
              <a:ext uri="{FF2B5EF4-FFF2-40B4-BE49-F238E27FC236}">
                <a16:creationId xmlns:a16="http://schemas.microsoft.com/office/drawing/2014/main" id="{97E84A29-D2EA-40DA-AD91-44170ADAC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5238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00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33B"/>
                </a:solidFill>
                <a:latin typeface="Arial"/>
                <a:ea typeface="Arial"/>
                <a:cs typeface="Arial"/>
              </a:rPr>
              <a:t>Карта контекстов и C4</a:t>
            </a:r>
          </a:p>
          <a:p xmlns:a="http://schemas.openxmlformats.org/drawingml/2006/main">
            <a:pPr algn="l">
              <a:defRPr sz="2100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33B"/>
                </a:solidFill>
                <a:latin typeface="Arial"/>
                <a:ea typeface="Arial"/>
                <a:cs typeface="Arial"/>
              </a:rPr>
              <a:t>OpenAPI и AsyncAPI</a:t>
            </a:r>
          </a:p>
          <a:p xmlns:a="http://schemas.openxmlformats.org/drawingml/2006/main">
            <a:pPr algn="l">
              <a:defRPr sz="2100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33B"/>
                </a:solidFill>
                <a:latin typeface="Arial"/>
                <a:ea typeface="Arial"/>
                <a:cs typeface="Arial"/>
              </a:rPr>
              <a:t>Процесс и три сценария сбоя</a:t>
            </a:r>
          </a:p>
          <a:p xmlns:a="http://schemas.openxmlformats.org/drawingml/2006/main">
            <a:pPr algn="l">
              <a:defRPr sz="2100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33B"/>
                </a:solidFill>
                <a:latin typeface="Arial"/>
                <a:ea typeface="Arial"/>
                <a:cs typeface="Arial"/>
              </a:rPr>
              <a:t>Четыре ADR</a:t>
            </a:r>
          </a:p>
        </p:txBody>
      </p:sp>
      <p:sp>
        <p:nvSpPr>
          <p:cNvPr id="5" name="Вторая часть">
            <a:extLst xmlns:a="http://schemas.openxmlformats.org/drawingml/2006/main">
              <a:ext uri="{FF2B5EF4-FFF2-40B4-BE49-F238E27FC236}">
                <a16:creationId xmlns:a16="http://schemas.microsoft.com/office/drawing/2014/main" id="{5AC6E0D3-E774-4AEB-B913-F45BD26DE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66875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6F91"/>
                </a:solidFill>
                <a:latin typeface="Arial"/>
                <a:ea typeface="Arial"/>
                <a:cs typeface="Arial"/>
              </a:rPr>
              <a:t>Вторая часть</a:t>
            </a:r>
          </a:p>
        </p:txBody>
      </p:sp>
      <p:sp>
        <p:nvSpPr>
          <p:cNvPr id="6" name="Три сервиса и RabbitMQ&#10;Отдельные базы данных&#10;Симул">
            <a:extLst xmlns:a="http://schemas.openxmlformats.org/drawingml/2006/main">
              <a:ext uri="{FF2B5EF4-FFF2-40B4-BE49-F238E27FC236}">
                <a16:creationId xmlns:a16="http://schemas.microsoft.com/office/drawing/2014/main" id="{E37A5C48-ED63-4A5A-A3FA-314257C37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71750"/>
            <a:ext cx="5048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00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33B"/>
                </a:solidFill>
                <a:latin typeface="Arial"/>
                <a:ea typeface="Arial"/>
                <a:cs typeface="Arial"/>
              </a:rPr>
              <a:t>Три сервиса и RabbitMQ</a:t>
            </a:r>
          </a:p>
          <a:p xmlns:a="http://schemas.openxmlformats.org/drawingml/2006/main">
            <a:pPr algn="l">
              <a:defRPr sz="2100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33B"/>
                </a:solidFill>
                <a:latin typeface="Arial"/>
                <a:ea typeface="Arial"/>
                <a:cs typeface="Arial"/>
              </a:rPr>
              <a:t>Отдельные базы данных</a:t>
            </a:r>
          </a:p>
          <a:p xmlns:a="http://schemas.openxmlformats.org/drawingml/2006/main">
            <a:pPr algn="l">
              <a:defRPr sz="2100" b="0">
                <a:solidFill>
                  <a:srgbClr val="1423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33B"/>
                </a:solidFill>
                <a:latin typeface="Arial"/>
                <a:ea typeface="Arial"/>
                <a:cs typeface="Arial"/>
              </a:rPr>
              <a:t>Симуляторы перевозчиков и оплаты</a:t>
            </a:r>
          </a:p>
        </p:txBody>
      </p:sp>
      <p:sp>
        <p:nvSpPr>
          <p:cNvPr id="7" name="Один тестовый пассажир. Условные деньги. Отменяемы">
            <a:extLst xmlns:a="http://schemas.openxmlformats.org/drawingml/2006/main">
              <a:ext uri="{FF2B5EF4-FFF2-40B4-BE49-F238E27FC236}">
                <a16:creationId xmlns:a16="http://schemas.microsoft.com/office/drawing/2014/main" id="{DFF0CD2A-3202-4F50-A9EB-8AD2A705F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Один тестовый пассажир. Условные деньги. Отменяемые брони.</a:t>
            </a:r>
          </a:p>
        </p:txBody>
      </p:sp>
      <p:sp>
        <p:nvSpPr>
          <p:cNvPr id="8" name="github.com/Aichepsh/micro">
            <a:extLst xmlns:a="http://schemas.openxmlformats.org/drawingml/2006/main">
              <a:ext uri="{FF2B5EF4-FFF2-40B4-BE49-F238E27FC236}">
                <a16:creationId xmlns:a16="http://schemas.microsoft.com/office/drawing/2014/main" id="{0E133AC8-115F-4D68-BAD4-33E574C9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66F9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6F91"/>
                </a:solidFill>
                <a:latin typeface="Arial"/>
                <a:ea typeface="Arial"/>
                <a:cs typeface="Arial"/>
              </a:rPr>
              <a:t>github.com/Aichepsh/micro</a:t>
            </a:r>
          </a:p>
        </p:txBody>
      </p:sp>
    </p:spTree>
    <p:extLst>
      <p:ext uri="{BB962C8B-B14F-4D97-AF65-F5344CB8AC3E}">
        <p14:creationId xmlns:p14="http://schemas.microsoft.com/office/powerpoint/2010/main" val="14260162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2026-10-28T17:32:24.7520000Z</dcterms:created>
  <dcterms:modified xsi:type="dcterms:W3CDTF">2026-10-28T17:32:24.7520000Z</dcterms:modified>
</coreProperties>
</file>